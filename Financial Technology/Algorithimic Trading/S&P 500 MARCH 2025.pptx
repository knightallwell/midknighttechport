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Lst>
  <p:sldSz cx="7556500" cy="10693400"/>
  <p:notesSz cx="6858000" cy="9144000"/>
  <p:embeddedFontLst>
    <p:embeddedFont>
      <p:font typeface="Garet" panose="020B0604020202020204" charset="0"/>
      <p:regular r:id="rId6"/>
    </p:embeddedFont>
    <p:embeddedFont>
      <p:font typeface="Garet Bold" panose="020B0604020202020204" charset="0"/>
      <p:regular r:id="rId7"/>
    </p:embeddedFont>
    <p:embeddedFont>
      <p:font typeface="Lora" pitchFamily="2" charset="0"/>
      <p:regular r:id="rId8"/>
    </p:embeddedFont>
    <p:embeddedFont>
      <p:font typeface="Lora Bold" charset="0"/>
      <p:regular r:id="rId9"/>
    </p:embeddedFont>
    <p:embeddedFont>
      <p:font typeface="Telegraf Heavy" panose="020B0604020202020204" charset="0"/>
      <p:regular r:id="rId1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48" d="100"/>
          <a:sy n="48" d="100"/>
        </p:scale>
        <p:origin x="2698" y="-5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3.fntdata"/><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font" Target="fonts/font2.fntdata"/><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1.fntdata"/><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font" Target="fonts/font4.fntdata"/><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8/27/2025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8/27/2025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8/27/2025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8/27/2025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8/27/2025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8/27/2025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4" Type="http://schemas.openxmlformats.org/officeDocument/2006/relationships/image" Target="../media/image3.svg"/></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7.png"/><Relationship Id="rId5" Type="http://schemas.openxmlformats.org/officeDocument/2006/relationships/image" Target="../media/image6.sv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4173831" y="487314"/>
            <a:ext cx="9126711" cy="2796042"/>
            <a:chOff x="0" y="0"/>
            <a:chExt cx="1989828" cy="609600"/>
          </a:xfrm>
        </p:grpSpPr>
        <p:sp>
          <p:nvSpPr>
            <p:cNvPr id="3" name="Freeform 3"/>
            <p:cNvSpPr/>
            <p:nvPr/>
          </p:nvSpPr>
          <p:spPr>
            <a:xfrm>
              <a:off x="0" y="0"/>
              <a:ext cx="1989828" cy="609600"/>
            </a:xfrm>
            <a:custGeom>
              <a:avLst/>
              <a:gdLst/>
              <a:ahLst/>
              <a:cxnLst/>
              <a:rect l="l" t="t" r="r" b="b"/>
              <a:pathLst>
                <a:path w="1989828" h="609600">
                  <a:moveTo>
                    <a:pt x="203200" y="0"/>
                  </a:moveTo>
                  <a:lnTo>
                    <a:pt x="1989828" y="0"/>
                  </a:lnTo>
                  <a:lnTo>
                    <a:pt x="1786628" y="609600"/>
                  </a:lnTo>
                  <a:lnTo>
                    <a:pt x="0" y="609600"/>
                  </a:lnTo>
                  <a:lnTo>
                    <a:pt x="203200" y="0"/>
                  </a:lnTo>
                  <a:close/>
                </a:path>
              </a:pathLst>
            </a:custGeom>
            <a:gradFill rotWithShape="1">
              <a:gsLst>
                <a:gs pos="0">
                  <a:srgbClr val="FF5959">
                    <a:alpha val="100000"/>
                  </a:srgbClr>
                </a:gs>
                <a:gs pos="100000">
                  <a:srgbClr val="220000">
                    <a:alpha val="100000"/>
                  </a:srgbClr>
                </a:gs>
              </a:gsLst>
              <a:lin ang="0"/>
            </a:gradFill>
            <a:ln cap="sq">
              <a:noFill/>
              <a:prstDash val="solid"/>
              <a:miter/>
            </a:ln>
          </p:spPr>
          <p:txBody>
            <a:bodyPr/>
            <a:lstStyle/>
            <a:p>
              <a:endParaRPr lang="en-US"/>
            </a:p>
          </p:txBody>
        </p:sp>
        <p:sp>
          <p:nvSpPr>
            <p:cNvPr id="4" name="TextBox 4"/>
            <p:cNvSpPr txBox="1"/>
            <p:nvPr/>
          </p:nvSpPr>
          <p:spPr>
            <a:xfrm>
              <a:off x="101600" y="0"/>
              <a:ext cx="1786628" cy="609600"/>
            </a:xfrm>
            <a:prstGeom prst="rect">
              <a:avLst/>
            </a:prstGeom>
          </p:spPr>
          <p:txBody>
            <a:bodyPr lIns="6244" tIns="6244" rIns="6244" bIns="6244" rtlCol="0" anchor="ctr"/>
            <a:lstStyle/>
            <a:p>
              <a:pPr marL="0" lvl="0" indent="0" algn="ctr">
                <a:lnSpc>
                  <a:spcPts val="184"/>
                </a:lnSpc>
                <a:spcBef>
                  <a:spcPct val="0"/>
                </a:spcBef>
              </a:pPr>
              <a:endParaRPr/>
            </a:p>
          </p:txBody>
        </p:sp>
      </p:grpSp>
      <p:grpSp>
        <p:nvGrpSpPr>
          <p:cNvPr id="5" name="Group 5"/>
          <p:cNvGrpSpPr/>
          <p:nvPr/>
        </p:nvGrpSpPr>
        <p:grpSpPr>
          <a:xfrm rot="8779303">
            <a:off x="3866752" y="-878089"/>
            <a:ext cx="919517" cy="2350778"/>
            <a:chOff x="0" y="0"/>
            <a:chExt cx="200475" cy="512522"/>
          </a:xfrm>
        </p:grpSpPr>
        <p:sp>
          <p:nvSpPr>
            <p:cNvPr id="6" name="Freeform 6"/>
            <p:cNvSpPr/>
            <p:nvPr/>
          </p:nvSpPr>
          <p:spPr>
            <a:xfrm>
              <a:off x="0" y="0"/>
              <a:ext cx="200475" cy="512522"/>
            </a:xfrm>
            <a:custGeom>
              <a:avLst/>
              <a:gdLst/>
              <a:ahLst/>
              <a:cxnLst/>
              <a:rect l="l" t="t" r="r" b="b"/>
              <a:pathLst>
                <a:path w="200475" h="512522">
                  <a:moveTo>
                    <a:pt x="0" y="0"/>
                  </a:moveTo>
                  <a:lnTo>
                    <a:pt x="200475" y="0"/>
                  </a:lnTo>
                  <a:lnTo>
                    <a:pt x="200475" y="512522"/>
                  </a:lnTo>
                  <a:lnTo>
                    <a:pt x="0" y="512522"/>
                  </a:lnTo>
                  <a:close/>
                </a:path>
              </a:pathLst>
            </a:custGeom>
            <a:gradFill rotWithShape="1">
              <a:gsLst>
                <a:gs pos="0">
                  <a:srgbClr val="FF5959">
                    <a:alpha val="100000"/>
                  </a:srgbClr>
                </a:gs>
                <a:gs pos="100000">
                  <a:srgbClr val="220000">
                    <a:alpha val="100000"/>
                  </a:srgbClr>
                </a:gs>
              </a:gsLst>
              <a:lin ang="0"/>
            </a:gradFill>
            <a:ln cap="sq">
              <a:noFill/>
              <a:prstDash val="solid"/>
              <a:miter/>
            </a:ln>
          </p:spPr>
          <p:txBody>
            <a:bodyPr/>
            <a:lstStyle/>
            <a:p>
              <a:endParaRPr lang="en-US"/>
            </a:p>
          </p:txBody>
        </p:sp>
        <p:sp>
          <p:nvSpPr>
            <p:cNvPr id="7" name="TextBox 7"/>
            <p:cNvSpPr txBox="1"/>
            <p:nvPr/>
          </p:nvSpPr>
          <p:spPr>
            <a:xfrm>
              <a:off x="0" y="0"/>
              <a:ext cx="200475" cy="512522"/>
            </a:xfrm>
            <a:prstGeom prst="rect">
              <a:avLst/>
            </a:prstGeom>
          </p:spPr>
          <p:txBody>
            <a:bodyPr lIns="6244" tIns="6244" rIns="6244" bIns="6244" rtlCol="0" anchor="ctr"/>
            <a:lstStyle/>
            <a:p>
              <a:pPr marL="0" lvl="0" indent="0" algn="ctr">
                <a:lnSpc>
                  <a:spcPts val="184"/>
                </a:lnSpc>
                <a:spcBef>
                  <a:spcPct val="0"/>
                </a:spcBef>
              </a:pPr>
              <a:endParaRPr/>
            </a:p>
          </p:txBody>
        </p:sp>
      </p:grpSp>
      <p:grpSp>
        <p:nvGrpSpPr>
          <p:cNvPr id="8" name="Group 8"/>
          <p:cNvGrpSpPr/>
          <p:nvPr/>
        </p:nvGrpSpPr>
        <p:grpSpPr>
          <a:xfrm rot="6528356">
            <a:off x="2724685" y="558626"/>
            <a:ext cx="5074630" cy="1451700"/>
            <a:chOff x="0" y="0"/>
            <a:chExt cx="1106384" cy="316503"/>
          </a:xfrm>
        </p:grpSpPr>
        <p:sp>
          <p:nvSpPr>
            <p:cNvPr id="9" name="Freeform 9"/>
            <p:cNvSpPr/>
            <p:nvPr/>
          </p:nvSpPr>
          <p:spPr>
            <a:xfrm>
              <a:off x="0" y="0"/>
              <a:ext cx="1106384" cy="316503"/>
            </a:xfrm>
            <a:custGeom>
              <a:avLst/>
              <a:gdLst/>
              <a:ahLst/>
              <a:cxnLst/>
              <a:rect l="l" t="t" r="r" b="b"/>
              <a:pathLst>
                <a:path w="1106384" h="316503">
                  <a:moveTo>
                    <a:pt x="0" y="0"/>
                  </a:moveTo>
                  <a:lnTo>
                    <a:pt x="1106384" y="0"/>
                  </a:lnTo>
                  <a:lnTo>
                    <a:pt x="1106384" y="316503"/>
                  </a:lnTo>
                  <a:lnTo>
                    <a:pt x="0" y="316503"/>
                  </a:lnTo>
                  <a:close/>
                </a:path>
              </a:pathLst>
            </a:custGeom>
            <a:solidFill>
              <a:srgbClr val="FFFFFF"/>
            </a:solidFill>
          </p:spPr>
          <p:txBody>
            <a:bodyPr/>
            <a:lstStyle/>
            <a:p>
              <a:endParaRPr lang="en-US"/>
            </a:p>
          </p:txBody>
        </p:sp>
        <p:sp>
          <p:nvSpPr>
            <p:cNvPr id="10" name="TextBox 10"/>
            <p:cNvSpPr txBox="1"/>
            <p:nvPr/>
          </p:nvSpPr>
          <p:spPr>
            <a:xfrm>
              <a:off x="0" y="0"/>
              <a:ext cx="1106384" cy="316503"/>
            </a:xfrm>
            <a:prstGeom prst="rect">
              <a:avLst/>
            </a:prstGeom>
          </p:spPr>
          <p:txBody>
            <a:bodyPr lIns="6244" tIns="6244" rIns="6244" bIns="6244" rtlCol="0" anchor="ctr"/>
            <a:lstStyle/>
            <a:p>
              <a:pPr algn="ctr">
                <a:lnSpc>
                  <a:spcPts val="184"/>
                </a:lnSpc>
              </a:pPr>
              <a:endParaRPr/>
            </a:p>
          </p:txBody>
        </p:sp>
      </p:grpSp>
      <p:grpSp>
        <p:nvGrpSpPr>
          <p:cNvPr id="11" name="Group 11"/>
          <p:cNvGrpSpPr/>
          <p:nvPr/>
        </p:nvGrpSpPr>
        <p:grpSpPr>
          <a:xfrm rot="6528356">
            <a:off x="3462598" y="2226410"/>
            <a:ext cx="2573186" cy="1252435"/>
            <a:chOff x="0" y="0"/>
            <a:chExt cx="561012" cy="273059"/>
          </a:xfrm>
        </p:grpSpPr>
        <p:sp>
          <p:nvSpPr>
            <p:cNvPr id="12" name="Freeform 12"/>
            <p:cNvSpPr/>
            <p:nvPr/>
          </p:nvSpPr>
          <p:spPr>
            <a:xfrm>
              <a:off x="0" y="0"/>
              <a:ext cx="561012" cy="273059"/>
            </a:xfrm>
            <a:custGeom>
              <a:avLst/>
              <a:gdLst/>
              <a:ahLst/>
              <a:cxnLst/>
              <a:rect l="l" t="t" r="r" b="b"/>
              <a:pathLst>
                <a:path w="561012" h="273059">
                  <a:moveTo>
                    <a:pt x="0" y="0"/>
                  </a:moveTo>
                  <a:lnTo>
                    <a:pt x="561012" y="0"/>
                  </a:lnTo>
                  <a:lnTo>
                    <a:pt x="561012" y="273059"/>
                  </a:lnTo>
                  <a:lnTo>
                    <a:pt x="0" y="273059"/>
                  </a:lnTo>
                  <a:close/>
                </a:path>
              </a:pathLst>
            </a:custGeom>
            <a:gradFill rotWithShape="1">
              <a:gsLst>
                <a:gs pos="0">
                  <a:srgbClr val="FF5959">
                    <a:alpha val="100000"/>
                  </a:srgbClr>
                </a:gs>
                <a:gs pos="100000">
                  <a:srgbClr val="220000">
                    <a:alpha val="100000"/>
                  </a:srgbClr>
                </a:gs>
              </a:gsLst>
              <a:lin ang="0"/>
            </a:gradFill>
            <a:ln cap="sq">
              <a:noFill/>
              <a:prstDash val="solid"/>
              <a:miter/>
            </a:ln>
          </p:spPr>
          <p:txBody>
            <a:bodyPr/>
            <a:lstStyle/>
            <a:p>
              <a:endParaRPr lang="en-US"/>
            </a:p>
          </p:txBody>
        </p:sp>
        <p:sp>
          <p:nvSpPr>
            <p:cNvPr id="13" name="TextBox 13"/>
            <p:cNvSpPr txBox="1"/>
            <p:nvPr/>
          </p:nvSpPr>
          <p:spPr>
            <a:xfrm>
              <a:off x="0" y="0"/>
              <a:ext cx="561012" cy="273059"/>
            </a:xfrm>
            <a:prstGeom prst="rect">
              <a:avLst/>
            </a:prstGeom>
          </p:spPr>
          <p:txBody>
            <a:bodyPr lIns="6244" tIns="6244" rIns="6244" bIns="6244" rtlCol="0" anchor="ctr"/>
            <a:lstStyle/>
            <a:p>
              <a:pPr marL="0" lvl="0" indent="0" algn="ctr">
                <a:lnSpc>
                  <a:spcPts val="184"/>
                </a:lnSpc>
                <a:spcBef>
                  <a:spcPct val="0"/>
                </a:spcBef>
              </a:pPr>
              <a:endParaRPr/>
            </a:p>
          </p:txBody>
        </p:sp>
      </p:grpSp>
      <p:grpSp>
        <p:nvGrpSpPr>
          <p:cNvPr id="14" name="Group 14"/>
          <p:cNvGrpSpPr/>
          <p:nvPr/>
        </p:nvGrpSpPr>
        <p:grpSpPr>
          <a:xfrm rot="-10800000">
            <a:off x="5360892" y="1310586"/>
            <a:ext cx="5762285" cy="1972769"/>
            <a:chOff x="0" y="0"/>
            <a:chExt cx="1780588" cy="609600"/>
          </a:xfrm>
        </p:grpSpPr>
        <p:sp>
          <p:nvSpPr>
            <p:cNvPr id="15" name="Freeform 15"/>
            <p:cNvSpPr/>
            <p:nvPr/>
          </p:nvSpPr>
          <p:spPr>
            <a:xfrm>
              <a:off x="0" y="0"/>
              <a:ext cx="1780588" cy="609600"/>
            </a:xfrm>
            <a:custGeom>
              <a:avLst/>
              <a:gdLst/>
              <a:ahLst/>
              <a:cxnLst/>
              <a:rect l="l" t="t" r="r" b="b"/>
              <a:pathLst>
                <a:path w="1780588" h="609600">
                  <a:moveTo>
                    <a:pt x="203200" y="0"/>
                  </a:moveTo>
                  <a:lnTo>
                    <a:pt x="1780588" y="0"/>
                  </a:lnTo>
                  <a:lnTo>
                    <a:pt x="1577388" y="609600"/>
                  </a:lnTo>
                  <a:lnTo>
                    <a:pt x="0" y="609600"/>
                  </a:lnTo>
                  <a:lnTo>
                    <a:pt x="203200" y="0"/>
                  </a:lnTo>
                  <a:close/>
                </a:path>
              </a:pathLst>
            </a:custGeom>
            <a:gradFill rotWithShape="1">
              <a:gsLst>
                <a:gs pos="0">
                  <a:srgbClr val="FF5959">
                    <a:alpha val="100000"/>
                  </a:srgbClr>
                </a:gs>
                <a:gs pos="100000">
                  <a:srgbClr val="220000">
                    <a:alpha val="100000"/>
                  </a:srgbClr>
                </a:gs>
              </a:gsLst>
              <a:lin ang="0"/>
            </a:gradFill>
          </p:spPr>
          <p:txBody>
            <a:bodyPr/>
            <a:lstStyle/>
            <a:p>
              <a:endParaRPr lang="en-US"/>
            </a:p>
          </p:txBody>
        </p:sp>
        <p:sp>
          <p:nvSpPr>
            <p:cNvPr id="16" name="TextBox 16"/>
            <p:cNvSpPr txBox="1"/>
            <p:nvPr/>
          </p:nvSpPr>
          <p:spPr>
            <a:xfrm>
              <a:off x="101600" y="0"/>
              <a:ext cx="1577388" cy="609600"/>
            </a:xfrm>
            <a:prstGeom prst="rect">
              <a:avLst/>
            </a:prstGeom>
          </p:spPr>
          <p:txBody>
            <a:bodyPr lIns="6244" tIns="6244" rIns="6244" bIns="6244" rtlCol="0" anchor="ctr"/>
            <a:lstStyle/>
            <a:p>
              <a:pPr algn="ctr">
                <a:lnSpc>
                  <a:spcPts val="184"/>
                </a:lnSpc>
              </a:pPr>
              <a:endParaRPr/>
            </a:p>
          </p:txBody>
        </p:sp>
      </p:grpSp>
      <p:grpSp>
        <p:nvGrpSpPr>
          <p:cNvPr id="17" name="Group 17"/>
          <p:cNvGrpSpPr/>
          <p:nvPr/>
        </p:nvGrpSpPr>
        <p:grpSpPr>
          <a:xfrm rot="8779303">
            <a:off x="5286406" y="933911"/>
            <a:ext cx="773730" cy="3025806"/>
            <a:chOff x="0" y="0"/>
            <a:chExt cx="168691" cy="659694"/>
          </a:xfrm>
        </p:grpSpPr>
        <p:sp>
          <p:nvSpPr>
            <p:cNvPr id="18" name="Freeform 18"/>
            <p:cNvSpPr/>
            <p:nvPr/>
          </p:nvSpPr>
          <p:spPr>
            <a:xfrm>
              <a:off x="0" y="0"/>
              <a:ext cx="168691" cy="659694"/>
            </a:xfrm>
            <a:custGeom>
              <a:avLst/>
              <a:gdLst/>
              <a:ahLst/>
              <a:cxnLst/>
              <a:rect l="l" t="t" r="r" b="b"/>
              <a:pathLst>
                <a:path w="168691" h="659694">
                  <a:moveTo>
                    <a:pt x="0" y="0"/>
                  </a:moveTo>
                  <a:lnTo>
                    <a:pt x="168691" y="0"/>
                  </a:lnTo>
                  <a:lnTo>
                    <a:pt x="168691" y="659694"/>
                  </a:lnTo>
                  <a:lnTo>
                    <a:pt x="0" y="659694"/>
                  </a:lnTo>
                  <a:close/>
                </a:path>
              </a:pathLst>
            </a:custGeom>
            <a:solidFill>
              <a:srgbClr val="FFFFFF"/>
            </a:solidFill>
          </p:spPr>
          <p:txBody>
            <a:bodyPr/>
            <a:lstStyle/>
            <a:p>
              <a:endParaRPr lang="en-US"/>
            </a:p>
          </p:txBody>
        </p:sp>
        <p:sp>
          <p:nvSpPr>
            <p:cNvPr id="19" name="TextBox 19"/>
            <p:cNvSpPr txBox="1"/>
            <p:nvPr/>
          </p:nvSpPr>
          <p:spPr>
            <a:xfrm>
              <a:off x="0" y="0"/>
              <a:ext cx="168691" cy="659694"/>
            </a:xfrm>
            <a:prstGeom prst="rect">
              <a:avLst/>
            </a:prstGeom>
          </p:spPr>
          <p:txBody>
            <a:bodyPr lIns="6244" tIns="6244" rIns="6244" bIns="6244" rtlCol="0" anchor="ctr"/>
            <a:lstStyle/>
            <a:p>
              <a:pPr algn="ctr">
                <a:lnSpc>
                  <a:spcPts val="184"/>
                </a:lnSpc>
              </a:pPr>
              <a:endParaRPr/>
            </a:p>
          </p:txBody>
        </p:sp>
      </p:grpSp>
      <p:grpSp>
        <p:nvGrpSpPr>
          <p:cNvPr id="20" name="Group 20"/>
          <p:cNvGrpSpPr/>
          <p:nvPr/>
        </p:nvGrpSpPr>
        <p:grpSpPr>
          <a:xfrm rot="5400000">
            <a:off x="4548503" y="2433771"/>
            <a:ext cx="773730" cy="3025806"/>
            <a:chOff x="0" y="0"/>
            <a:chExt cx="168691" cy="659694"/>
          </a:xfrm>
        </p:grpSpPr>
        <p:sp>
          <p:nvSpPr>
            <p:cNvPr id="21" name="Freeform 21"/>
            <p:cNvSpPr/>
            <p:nvPr/>
          </p:nvSpPr>
          <p:spPr>
            <a:xfrm>
              <a:off x="0" y="0"/>
              <a:ext cx="168691" cy="659694"/>
            </a:xfrm>
            <a:custGeom>
              <a:avLst/>
              <a:gdLst/>
              <a:ahLst/>
              <a:cxnLst/>
              <a:rect l="l" t="t" r="r" b="b"/>
              <a:pathLst>
                <a:path w="168691" h="659694">
                  <a:moveTo>
                    <a:pt x="0" y="0"/>
                  </a:moveTo>
                  <a:lnTo>
                    <a:pt x="168691" y="0"/>
                  </a:lnTo>
                  <a:lnTo>
                    <a:pt x="168691" y="659694"/>
                  </a:lnTo>
                  <a:lnTo>
                    <a:pt x="0" y="659694"/>
                  </a:lnTo>
                  <a:close/>
                </a:path>
              </a:pathLst>
            </a:custGeom>
            <a:solidFill>
              <a:srgbClr val="FFFFFF"/>
            </a:solidFill>
          </p:spPr>
          <p:txBody>
            <a:bodyPr/>
            <a:lstStyle/>
            <a:p>
              <a:endParaRPr lang="en-US"/>
            </a:p>
          </p:txBody>
        </p:sp>
        <p:sp>
          <p:nvSpPr>
            <p:cNvPr id="22" name="TextBox 22"/>
            <p:cNvSpPr txBox="1"/>
            <p:nvPr/>
          </p:nvSpPr>
          <p:spPr>
            <a:xfrm>
              <a:off x="0" y="0"/>
              <a:ext cx="168691" cy="659694"/>
            </a:xfrm>
            <a:prstGeom prst="rect">
              <a:avLst/>
            </a:prstGeom>
          </p:spPr>
          <p:txBody>
            <a:bodyPr lIns="6244" tIns="6244" rIns="6244" bIns="6244" rtlCol="0" anchor="ctr"/>
            <a:lstStyle/>
            <a:p>
              <a:pPr algn="ctr">
                <a:lnSpc>
                  <a:spcPts val="184"/>
                </a:lnSpc>
              </a:pPr>
              <a:endParaRPr/>
            </a:p>
          </p:txBody>
        </p:sp>
      </p:grpSp>
      <p:grpSp>
        <p:nvGrpSpPr>
          <p:cNvPr id="23" name="Group 23"/>
          <p:cNvGrpSpPr/>
          <p:nvPr/>
        </p:nvGrpSpPr>
        <p:grpSpPr>
          <a:xfrm>
            <a:off x="-665121" y="3721506"/>
            <a:ext cx="8813547" cy="2591648"/>
            <a:chOff x="0" y="0"/>
            <a:chExt cx="1857986" cy="546346"/>
          </a:xfrm>
        </p:grpSpPr>
        <p:sp>
          <p:nvSpPr>
            <p:cNvPr id="24" name="Freeform 24"/>
            <p:cNvSpPr/>
            <p:nvPr/>
          </p:nvSpPr>
          <p:spPr>
            <a:xfrm>
              <a:off x="0" y="0"/>
              <a:ext cx="1857986" cy="546346"/>
            </a:xfrm>
            <a:custGeom>
              <a:avLst/>
              <a:gdLst/>
              <a:ahLst/>
              <a:cxnLst/>
              <a:rect l="l" t="t" r="r" b="b"/>
              <a:pathLst>
                <a:path w="1857986" h="546346">
                  <a:moveTo>
                    <a:pt x="0" y="0"/>
                  </a:moveTo>
                  <a:lnTo>
                    <a:pt x="1857986" y="0"/>
                  </a:lnTo>
                  <a:lnTo>
                    <a:pt x="1857986" y="546346"/>
                  </a:lnTo>
                  <a:lnTo>
                    <a:pt x="0" y="546346"/>
                  </a:lnTo>
                  <a:close/>
                </a:path>
              </a:pathLst>
            </a:custGeom>
            <a:blipFill>
              <a:blip r:embed="rId2"/>
              <a:stretch>
                <a:fillRect t="-116018" b="-10769"/>
              </a:stretch>
            </a:blipFill>
          </p:spPr>
          <p:txBody>
            <a:bodyPr/>
            <a:lstStyle/>
            <a:p>
              <a:endParaRPr lang="en-US"/>
            </a:p>
          </p:txBody>
        </p:sp>
      </p:grpSp>
      <p:grpSp>
        <p:nvGrpSpPr>
          <p:cNvPr id="25" name="Group 25"/>
          <p:cNvGrpSpPr/>
          <p:nvPr/>
        </p:nvGrpSpPr>
        <p:grpSpPr>
          <a:xfrm rot="-10800000">
            <a:off x="4952881" y="911991"/>
            <a:ext cx="4712951" cy="520857"/>
            <a:chOff x="0" y="0"/>
            <a:chExt cx="5515934" cy="609600"/>
          </a:xfrm>
        </p:grpSpPr>
        <p:sp>
          <p:nvSpPr>
            <p:cNvPr id="26" name="Freeform 26"/>
            <p:cNvSpPr/>
            <p:nvPr/>
          </p:nvSpPr>
          <p:spPr>
            <a:xfrm>
              <a:off x="0" y="0"/>
              <a:ext cx="5515934" cy="609600"/>
            </a:xfrm>
            <a:custGeom>
              <a:avLst/>
              <a:gdLst/>
              <a:ahLst/>
              <a:cxnLst/>
              <a:rect l="l" t="t" r="r" b="b"/>
              <a:pathLst>
                <a:path w="5515934" h="609600">
                  <a:moveTo>
                    <a:pt x="203200" y="0"/>
                  </a:moveTo>
                  <a:lnTo>
                    <a:pt x="5515934" y="0"/>
                  </a:lnTo>
                  <a:lnTo>
                    <a:pt x="5312734" y="609600"/>
                  </a:lnTo>
                  <a:lnTo>
                    <a:pt x="0" y="609600"/>
                  </a:lnTo>
                  <a:lnTo>
                    <a:pt x="203200" y="0"/>
                  </a:lnTo>
                  <a:close/>
                </a:path>
              </a:pathLst>
            </a:custGeom>
            <a:gradFill rotWithShape="1">
              <a:gsLst>
                <a:gs pos="0">
                  <a:srgbClr val="FF5959">
                    <a:alpha val="100000"/>
                  </a:srgbClr>
                </a:gs>
                <a:gs pos="100000">
                  <a:srgbClr val="220000">
                    <a:alpha val="100000"/>
                  </a:srgbClr>
                </a:gs>
              </a:gsLst>
              <a:lin ang="0"/>
            </a:gradFill>
            <a:ln cap="sq">
              <a:noFill/>
              <a:prstDash val="solid"/>
              <a:miter/>
            </a:ln>
          </p:spPr>
          <p:txBody>
            <a:bodyPr/>
            <a:lstStyle/>
            <a:p>
              <a:endParaRPr lang="en-US"/>
            </a:p>
          </p:txBody>
        </p:sp>
        <p:sp>
          <p:nvSpPr>
            <p:cNvPr id="27" name="TextBox 27"/>
            <p:cNvSpPr txBox="1"/>
            <p:nvPr/>
          </p:nvSpPr>
          <p:spPr>
            <a:xfrm>
              <a:off x="101600" y="0"/>
              <a:ext cx="5312734" cy="609600"/>
            </a:xfrm>
            <a:prstGeom prst="rect">
              <a:avLst/>
            </a:prstGeom>
          </p:spPr>
          <p:txBody>
            <a:bodyPr lIns="6244" tIns="6244" rIns="6244" bIns="6244" rtlCol="0" anchor="ctr"/>
            <a:lstStyle/>
            <a:p>
              <a:pPr marL="0" lvl="0" indent="0" algn="ctr">
                <a:lnSpc>
                  <a:spcPts val="184"/>
                </a:lnSpc>
                <a:spcBef>
                  <a:spcPct val="0"/>
                </a:spcBef>
              </a:pPr>
              <a:endParaRPr/>
            </a:p>
          </p:txBody>
        </p:sp>
      </p:grpSp>
      <p:grpSp>
        <p:nvGrpSpPr>
          <p:cNvPr id="28" name="Group 28"/>
          <p:cNvGrpSpPr/>
          <p:nvPr/>
        </p:nvGrpSpPr>
        <p:grpSpPr>
          <a:xfrm rot="-10800000">
            <a:off x="-1078672" y="1530366"/>
            <a:ext cx="5140289" cy="1388762"/>
            <a:chOff x="0" y="0"/>
            <a:chExt cx="2256341" cy="609600"/>
          </a:xfrm>
        </p:grpSpPr>
        <p:sp>
          <p:nvSpPr>
            <p:cNvPr id="29" name="Freeform 29"/>
            <p:cNvSpPr/>
            <p:nvPr/>
          </p:nvSpPr>
          <p:spPr>
            <a:xfrm>
              <a:off x="0" y="0"/>
              <a:ext cx="2256341" cy="609600"/>
            </a:xfrm>
            <a:custGeom>
              <a:avLst/>
              <a:gdLst/>
              <a:ahLst/>
              <a:cxnLst/>
              <a:rect l="l" t="t" r="r" b="b"/>
              <a:pathLst>
                <a:path w="2256341" h="609600">
                  <a:moveTo>
                    <a:pt x="203200" y="0"/>
                  </a:moveTo>
                  <a:lnTo>
                    <a:pt x="2256341" y="0"/>
                  </a:lnTo>
                  <a:lnTo>
                    <a:pt x="2053141" y="609600"/>
                  </a:lnTo>
                  <a:lnTo>
                    <a:pt x="0" y="609600"/>
                  </a:lnTo>
                  <a:lnTo>
                    <a:pt x="203200" y="0"/>
                  </a:lnTo>
                  <a:close/>
                </a:path>
              </a:pathLst>
            </a:custGeom>
            <a:gradFill rotWithShape="1">
              <a:gsLst>
                <a:gs pos="0">
                  <a:srgbClr val="FF5959">
                    <a:alpha val="100000"/>
                  </a:srgbClr>
                </a:gs>
                <a:gs pos="100000">
                  <a:srgbClr val="220000">
                    <a:alpha val="100000"/>
                  </a:srgbClr>
                </a:gs>
              </a:gsLst>
              <a:lin ang="0"/>
            </a:gradFill>
            <a:ln cap="sq">
              <a:noFill/>
              <a:prstDash val="solid"/>
              <a:miter/>
            </a:ln>
          </p:spPr>
          <p:txBody>
            <a:bodyPr/>
            <a:lstStyle/>
            <a:p>
              <a:endParaRPr lang="en-US"/>
            </a:p>
          </p:txBody>
        </p:sp>
        <p:sp>
          <p:nvSpPr>
            <p:cNvPr id="30" name="TextBox 30"/>
            <p:cNvSpPr txBox="1"/>
            <p:nvPr/>
          </p:nvSpPr>
          <p:spPr>
            <a:xfrm>
              <a:off x="101600" y="0"/>
              <a:ext cx="2053141" cy="609600"/>
            </a:xfrm>
            <a:prstGeom prst="rect">
              <a:avLst/>
            </a:prstGeom>
          </p:spPr>
          <p:txBody>
            <a:bodyPr lIns="6244" tIns="6244" rIns="6244" bIns="6244" rtlCol="0" anchor="ctr"/>
            <a:lstStyle/>
            <a:p>
              <a:pPr marL="0" lvl="0" indent="0" algn="ctr">
                <a:lnSpc>
                  <a:spcPts val="184"/>
                </a:lnSpc>
                <a:spcBef>
                  <a:spcPct val="0"/>
                </a:spcBef>
              </a:pPr>
              <a:endParaRPr/>
            </a:p>
          </p:txBody>
        </p:sp>
      </p:grpSp>
      <p:grpSp>
        <p:nvGrpSpPr>
          <p:cNvPr id="31" name="Group 31"/>
          <p:cNvGrpSpPr/>
          <p:nvPr/>
        </p:nvGrpSpPr>
        <p:grpSpPr>
          <a:xfrm rot="-10800000">
            <a:off x="3422465" y="-1069883"/>
            <a:ext cx="2179845" cy="1557197"/>
            <a:chOff x="0" y="0"/>
            <a:chExt cx="475255" cy="339504"/>
          </a:xfrm>
        </p:grpSpPr>
        <p:sp>
          <p:nvSpPr>
            <p:cNvPr id="32" name="Freeform 32"/>
            <p:cNvSpPr/>
            <p:nvPr/>
          </p:nvSpPr>
          <p:spPr>
            <a:xfrm>
              <a:off x="0" y="0"/>
              <a:ext cx="475255" cy="339504"/>
            </a:xfrm>
            <a:custGeom>
              <a:avLst/>
              <a:gdLst/>
              <a:ahLst/>
              <a:cxnLst/>
              <a:rect l="l" t="t" r="r" b="b"/>
              <a:pathLst>
                <a:path w="475255" h="339504">
                  <a:moveTo>
                    <a:pt x="0" y="0"/>
                  </a:moveTo>
                  <a:lnTo>
                    <a:pt x="475255" y="0"/>
                  </a:lnTo>
                  <a:lnTo>
                    <a:pt x="475255" y="339504"/>
                  </a:lnTo>
                  <a:lnTo>
                    <a:pt x="0" y="339504"/>
                  </a:lnTo>
                  <a:close/>
                </a:path>
              </a:pathLst>
            </a:custGeom>
            <a:solidFill>
              <a:srgbClr val="FFFFFF"/>
            </a:solidFill>
          </p:spPr>
          <p:txBody>
            <a:bodyPr/>
            <a:lstStyle/>
            <a:p>
              <a:endParaRPr lang="en-US"/>
            </a:p>
          </p:txBody>
        </p:sp>
        <p:sp>
          <p:nvSpPr>
            <p:cNvPr id="33" name="TextBox 33"/>
            <p:cNvSpPr txBox="1"/>
            <p:nvPr/>
          </p:nvSpPr>
          <p:spPr>
            <a:xfrm>
              <a:off x="0" y="0"/>
              <a:ext cx="475255" cy="339504"/>
            </a:xfrm>
            <a:prstGeom prst="rect">
              <a:avLst/>
            </a:prstGeom>
          </p:spPr>
          <p:txBody>
            <a:bodyPr lIns="6244" tIns="6244" rIns="6244" bIns="6244" rtlCol="0" anchor="ctr"/>
            <a:lstStyle/>
            <a:p>
              <a:pPr algn="ctr">
                <a:lnSpc>
                  <a:spcPts val="184"/>
                </a:lnSpc>
              </a:pPr>
              <a:endParaRPr/>
            </a:p>
          </p:txBody>
        </p:sp>
      </p:grpSp>
      <p:grpSp>
        <p:nvGrpSpPr>
          <p:cNvPr id="34" name="Group 34"/>
          <p:cNvGrpSpPr/>
          <p:nvPr/>
        </p:nvGrpSpPr>
        <p:grpSpPr>
          <a:xfrm rot="-10800000">
            <a:off x="-542316" y="8340471"/>
            <a:ext cx="9841451" cy="2831206"/>
            <a:chOff x="0" y="0"/>
            <a:chExt cx="11622904" cy="3343698"/>
          </a:xfrm>
        </p:grpSpPr>
        <p:sp>
          <p:nvSpPr>
            <p:cNvPr id="35" name="Freeform 35"/>
            <p:cNvSpPr/>
            <p:nvPr/>
          </p:nvSpPr>
          <p:spPr>
            <a:xfrm>
              <a:off x="0" y="0"/>
              <a:ext cx="11622905" cy="3343698"/>
            </a:xfrm>
            <a:custGeom>
              <a:avLst/>
              <a:gdLst/>
              <a:ahLst/>
              <a:cxnLst/>
              <a:rect l="l" t="t" r="r" b="b"/>
              <a:pathLst>
                <a:path w="11622905" h="3343698">
                  <a:moveTo>
                    <a:pt x="203200" y="0"/>
                  </a:moveTo>
                  <a:lnTo>
                    <a:pt x="11622905" y="0"/>
                  </a:lnTo>
                  <a:lnTo>
                    <a:pt x="11419705" y="3343698"/>
                  </a:lnTo>
                  <a:lnTo>
                    <a:pt x="0" y="3343698"/>
                  </a:lnTo>
                  <a:lnTo>
                    <a:pt x="203200" y="0"/>
                  </a:lnTo>
                  <a:close/>
                </a:path>
              </a:pathLst>
            </a:custGeom>
            <a:gradFill rotWithShape="1">
              <a:gsLst>
                <a:gs pos="0">
                  <a:srgbClr val="FF5959">
                    <a:alpha val="100000"/>
                  </a:srgbClr>
                </a:gs>
                <a:gs pos="100000">
                  <a:srgbClr val="220000">
                    <a:alpha val="100000"/>
                  </a:srgbClr>
                </a:gs>
              </a:gsLst>
              <a:lin ang="0"/>
            </a:gradFill>
          </p:spPr>
          <p:txBody>
            <a:bodyPr/>
            <a:lstStyle/>
            <a:p>
              <a:endParaRPr lang="en-US"/>
            </a:p>
          </p:txBody>
        </p:sp>
        <p:sp>
          <p:nvSpPr>
            <p:cNvPr id="36" name="TextBox 36"/>
            <p:cNvSpPr txBox="1"/>
            <p:nvPr/>
          </p:nvSpPr>
          <p:spPr>
            <a:xfrm>
              <a:off x="101600" y="0"/>
              <a:ext cx="11419704" cy="3343698"/>
            </a:xfrm>
            <a:prstGeom prst="rect">
              <a:avLst/>
            </a:prstGeom>
          </p:spPr>
          <p:txBody>
            <a:bodyPr lIns="6244" tIns="6244" rIns="6244" bIns="6244" rtlCol="0" anchor="ctr"/>
            <a:lstStyle/>
            <a:p>
              <a:pPr algn="ctr">
                <a:lnSpc>
                  <a:spcPts val="184"/>
                </a:lnSpc>
              </a:pPr>
              <a:endParaRPr/>
            </a:p>
          </p:txBody>
        </p:sp>
      </p:grpSp>
      <p:sp>
        <p:nvSpPr>
          <p:cNvPr id="37" name="Freeform 37"/>
          <p:cNvSpPr/>
          <p:nvPr/>
        </p:nvSpPr>
        <p:spPr>
          <a:xfrm rot="-10800000">
            <a:off x="756000" y="704033"/>
            <a:ext cx="339399" cy="218679"/>
          </a:xfrm>
          <a:custGeom>
            <a:avLst/>
            <a:gdLst/>
            <a:ahLst/>
            <a:cxnLst/>
            <a:rect l="l" t="t" r="r" b="b"/>
            <a:pathLst>
              <a:path w="339399" h="218679">
                <a:moveTo>
                  <a:pt x="0" y="0"/>
                </a:moveTo>
                <a:lnTo>
                  <a:pt x="339399" y="0"/>
                </a:lnTo>
                <a:lnTo>
                  <a:pt x="339399" y="218679"/>
                </a:lnTo>
                <a:lnTo>
                  <a:pt x="0" y="218679"/>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US"/>
          </a:p>
        </p:txBody>
      </p:sp>
      <p:sp>
        <p:nvSpPr>
          <p:cNvPr id="38" name="TextBox 38"/>
          <p:cNvSpPr txBox="1"/>
          <p:nvPr/>
        </p:nvSpPr>
        <p:spPr>
          <a:xfrm>
            <a:off x="223952" y="6281084"/>
            <a:ext cx="5489400" cy="1680653"/>
          </a:xfrm>
          <a:prstGeom prst="rect">
            <a:avLst/>
          </a:prstGeom>
        </p:spPr>
        <p:txBody>
          <a:bodyPr lIns="0" tIns="0" rIns="0" bIns="0" rtlCol="0" anchor="t">
            <a:spAutoFit/>
          </a:bodyPr>
          <a:lstStyle/>
          <a:p>
            <a:pPr marL="0" lvl="0" indent="0" algn="l">
              <a:lnSpc>
                <a:spcPts val="6488"/>
              </a:lnSpc>
              <a:spcBef>
                <a:spcPct val="0"/>
              </a:spcBef>
            </a:pPr>
            <a:r>
              <a:rPr lang="en-US" sz="6554" b="1" dirty="0">
                <a:solidFill>
                  <a:srgbClr val="1C2120"/>
                </a:solidFill>
                <a:latin typeface="Telegraf Heavy"/>
                <a:ea typeface="Telegraf Heavy"/>
                <a:cs typeface="Telegraf Heavy"/>
                <a:sym typeface="Telegraf Heavy"/>
              </a:rPr>
              <a:t>FINANCIAL INSIGHTS</a:t>
            </a:r>
          </a:p>
        </p:txBody>
      </p:sp>
      <p:sp>
        <p:nvSpPr>
          <p:cNvPr id="39" name="TextBox 39"/>
          <p:cNvSpPr txBox="1"/>
          <p:nvPr/>
        </p:nvSpPr>
        <p:spPr>
          <a:xfrm>
            <a:off x="1380025" y="689510"/>
            <a:ext cx="2042440" cy="244032"/>
          </a:xfrm>
          <a:prstGeom prst="rect">
            <a:avLst/>
          </a:prstGeom>
        </p:spPr>
        <p:txBody>
          <a:bodyPr lIns="0" tIns="0" rIns="0" bIns="0" rtlCol="0" anchor="t">
            <a:spAutoFit/>
          </a:bodyPr>
          <a:lstStyle/>
          <a:p>
            <a:pPr marL="0" lvl="0" indent="0" algn="l">
              <a:lnSpc>
                <a:spcPts val="2030"/>
              </a:lnSpc>
              <a:spcBef>
                <a:spcPct val="0"/>
              </a:spcBef>
            </a:pPr>
            <a:r>
              <a:rPr lang="en-US" sz="1450" b="1">
                <a:solidFill>
                  <a:srgbClr val="1C2120"/>
                </a:solidFill>
                <a:latin typeface="Garet Bold"/>
                <a:ea typeface="Garet Bold"/>
                <a:cs typeface="Garet Bold"/>
                <a:sym typeface="Garet Bold"/>
              </a:rPr>
              <a:t>TRADE PROF</a:t>
            </a:r>
          </a:p>
        </p:txBody>
      </p:sp>
      <p:sp>
        <p:nvSpPr>
          <p:cNvPr id="40" name="TextBox 40"/>
          <p:cNvSpPr txBox="1"/>
          <p:nvPr/>
        </p:nvSpPr>
        <p:spPr>
          <a:xfrm>
            <a:off x="756000" y="9538411"/>
            <a:ext cx="1895354" cy="214089"/>
          </a:xfrm>
          <a:prstGeom prst="rect">
            <a:avLst/>
          </a:prstGeom>
        </p:spPr>
        <p:txBody>
          <a:bodyPr lIns="0" tIns="0" rIns="0" bIns="0" rtlCol="0" anchor="t">
            <a:spAutoFit/>
          </a:bodyPr>
          <a:lstStyle/>
          <a:p>
            <a:pPr algn="l">
              <a:lnSpc>
                <a:spcPts val="1849"/>
              </a:lnSpc>
            </a:pPr>
            <a:r>
              <a:rPr lang="en-US" sz="1321" b="1" spc="178">
                <a:solidFill>
                  <a:srgbClr val="FFFFFF"/>
                </a:solidFill>
                <a:latin typeface="Garet Bold"/>
                <a:ea typeface="Garet Bold"/>
                <a:cs typeface="Garet Bold"/>
                <a:sym typeface="Garet Bold"/>
              </a:rPr>
              <a:t>PREPARED FOR :</a:t>
            </a:r>
          </a:p>
        </p:txBody>
      </p:sp>
      <p:sp>
        <p:nvSpPr>
          <p:cNvPr id="41" name="TextBox 41"/>
          <p:cNvSpPr txBox="1"/>
          <p:nvPr/>
        </p:nvSpPr>
        <p:spPr>
          <a:xfrm>
            <a:off x="756000" y="9822043"/>
            <a:ext cx="1895354" cy="181814"/>
          </a:xfrm>
          <a:prstGeom prst="rect">
            <a:avLst/>
          </a:prstGeom>
        </p:spPr>
        <p:txBody>
          <a:bodyPr lIns="0" tIns="0" rIns="0" bIns="0" rtlCol="0" anchor="t">
            <a:spAutoFit/>
          </a:bodyPr>
          <a:lstStyle/>
          <a:p>
            <a:pPr algn="l">
              <a:lnSpc>
                <a:spcPts val="1528"/>
              </a:lnSpc>
            </a:pPr>
            <a:r>
              <a:rPr lang="en-US" sz="1091" spc="147">
                <a:solidFill>
                  <a:srgbClr val="FFFFFF"/>
                </a:solidFill>
                <a:latin typeface="Garet"/>
                <a:ea typeface="Garet"/>
                <a:cs typeface="Garet"/>
                <a:sym typeface="Garet"/>
              </a:rPr>
              <a:t>elites</a:t>
            </a:r>
          </a:p>
        </p:txBody>
      </p:sp>
      <p:sp>
        <p:nvSpPr>
          <p:cNvPr id="42" name="TextBox 42"/>
          <p:cNvSpPr txBox="1"/>
          <p:nvPr/>
        </p:nvSpPr>
        <p:spPr>
          <a:xfrm>
            <a:off x="756000" y="7805572"/>
            <a:ext cx="1872686" cy="312329"/>
          </a:xfrm>
          <a:prstGeom prst="rect">
            <a:avLst/>
          </a:prstGeom>
        </p:spPr>
        <p:txBody>
          <a:bodyPr lIns="0" tIns="0" rIns="0" bIns="0" rtlCol="0" anchor="t">
            <a:spAutoFit/>
          </a:bodyPr>
          <a:lstStyle/>
          <a:p>
            <a:pPr marL="0" lvl="0" indent="0" algn="l">
              <a:lnSpc>
                <a:spcPts val="2670"/>
              </a:lnSpc>
              <a:spcBef>
                <a:spcPct val="0"/>
              </a:spcBef>
            </a:pPr>
            <a:r>
              <a:rPr lang="en-US" sz="1907" b="1" dirty="0">
                <a:solidFill>
                  <a:srgbClr val="1C2120"/>
                </a:solidFill>
                <a:latin typeface="Garet Bold"/>
                <a:ea typeface="Garet Bold"/>
                <a:cs typeface="Garet Bold"/>
                <a:sym typeface="Garet Bold"/>
              </a:rPr>
              <a:t>10/03/2025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542316" y="-536767"/>
            <a:ext cx="9841451" cy="2831206"/>
            <a:chOff x="0" y="0"/>
            <a:chExt cx="11622904" cy="3343698"/>
          </a:xfrm>
        </p:grpSpPr>
        <p:sp>
          <p:nvSpPr>
            <p:cNvPr id="3" name="Freeform 3"/>
            <p:cNvSpPr/>
            <p:nvPr/>
          </p:nvSpPr>
          <p:spPr>
            <a:xfrm>
              <a:off x="0" y="0"/>
              <a:ext cx="11622905" cy="3343698"/>
            </a:xfrm>
            <a:custGeom>
              <a:avLst/>
              <a:gdLst/>
              <a:ahLst/>
              <a:cxnLst/>
              <a:rect l="l" t="t" r="r" b="b"/>
              <a:pathLst>
                <a:path w="11622905" h="3343698">
                  <a:moveTo>
                    <a:pt x="203200" y="0"/>
                  </a:moveTo>
                  <a:lnTo>
                    <a:pt x="11622905" y="0"/>
                  </a:lnTo>
                  <a:lnTo>
                    <a:pt x="11419705" y="3343698"/>
                  </a:lnTo>
                  <a:lnTo>
                    <a:pt x="0" y="3343698"/>
                  </a:lnTo>
                  <a:lnTo>
                    <a:pt x="203200" y="0"/>
                  </a:lnTo>
                  <a:close/>
                </a:path>
              </a:pathLst>
            </a:custGeom>
            <a:gradFill rotWithShape="1">
              <a:gsLst>
                <a:gs pos="0">
                  <a:srgbClr val="FF5959">
                    <a:alpha val="100000"/>
                  </a:srgbClr>
                </a:gs>
                <a:gs pos="100000">
                  <a:srgbClr val="220000">
                    <a:alpha val="100000"/>
                  </a:srgbClr>
                </a:gs>
              </a:gsLst>
              <a:lin ang="0"/>
            </a:gradFill>
          </p:spPr>
          <p:txBody>
            <a:bodyPr/>
            <a:lstStyle/>
            <a:p>
              <a:endParaRPr lang="en-US"/>
            </a:p>
          </p:txBody>
        </p:sp>
        <p:sp>
          <p:nvSpPr>
            <p:cNvPr id="4" name="TextBox 4"/>
            <p:cNvSpPr txBox="1"/>
            <p:nvPr/>
          </p:nvSpPr>
          <p:spPr>
            <a:xfrm>
              <a:off x="101600" y="0"/>
              <a:ext cx="11419704" cy="3343698"/>
            </a:xfrm>
            <a:prstGeom prst="rect">
              <a:avLst/>
            </a:prstGeom>
          </p:spPr>
          <p:txBody>
            <a:bodyPr lIns="6244" tIns="6244" rIns="6244" bIns="6244" rtlCol="0" anchor="ctr"/>
            <a:lstStyle/>
            <a:p>
              <a:pPr algn="ctr">
                <a:lnSpc>
                  <a:spcPts val="184"/>
                </a:lnSpc>
              </a:pPr>
              <a:endParaRPr/>
            </a:p>
          </p:txBody>
        </p:sp>
      </p:grpSp>
      <p:grpSp>
        <p:nvGrpSpPr>
          <p:cNvPr id="5" name="Group 5"/>
          <p:cNvGrpSpPr/>
          <p:nvPr/>
        </p:nvGrpSpPr>
        <p:grpSpPr>
          <a:xfrm rot="-10800000">
            <a:off x="-932832" y="9781520"/>
            <a:ext cx="7736832" cy="1402116"/>
            <a:chOff x="0" y="0"/>
            <a:chExt cx="3363754" cy="609600"/>
          </a:xfrm>
        </p:grpSpPr>
        <p:sp>
          <p:nvSpPr>
            <p:cNvPr id="6" name="Freeform 6"/>
            <p:cNvSpPr/>
            <p:nvPr/>
          </p:nvSpPr>
          <p:spPr>
            <a:xfrm>
              <a:off x="0" y="0"/>
              <a:ext cx="3363754" cy="609600"/>
            </a:xfrm>
            <a:custGeom>
              <a:avLst/>
              <a:gdLst/>
              <a:ahLst/>
              <a:cxnLst/>
              <a:rect l="l" t="t" r="r" b="b"/>
              <a:pathLst>
                <a:path w="3363754" h="609600">
                  <a:moveTo>
                    <a:pt x="203200" y="0"/>
                  </a:moveTo>
                  <a:lnTo>
                    <a:pt x="3363754" y="0"/>
                  </a:lnTo>
                  <a:lnTo>
                    <a:pt x="3160554" y="609600"/>
                  </a:lnTo>
                  <a:lnTo>
                    <a:pt x="0" y="609600"/>
                  </a:lnTo>
                  <a:lnTo>
                    <a:pt x="203200" y="0"/>
                  </a:lnTo>
                  <a:close/>
                </a:path>
              </a:pathLst>
            </a:custGeom>
            <a:gradFill rotWithShape="1">
              <a:gsLst>
                <a:gs pos="0">
                  <a:srgbClr val="FF5959">
                    <a:alpha val="100000"/>
                  </a:srgbClr>
                </a:gs>
                <a:gs pos="100000">
                  <a:srgbClr val="220000">
                    <a:alpha val="100000"/>
                  </a:srgbClr>
                </a:gs>
              </a:gsLst>
              <a:lin ang="0"/>
            </a:gradFill>
            <a:ln cap="sq">
              <a:noFill/>
              <a:prstDash val="solid"/>
              <a:miter/>
            </a:ln>
          </p:spPr>
          <p:txBody>
            <a:bodyPr/>
            <a:lstStyle/>
            <a:p>
              <a:endParaRPr lang="en-US"/>
            </a:p>
          </p:txBody>
        </p:sp>
        <p:sp>
          <p:nvSpPr>
            <p:cNvPr id="7" name="TextBox 7"/>
            <p:cNvSpPr txBox="1"/>
            <p:nvPr/>
          </p:nvSpPr>
          <p:spPr>
            <a:xfrm>
              <a:off x="101600" y="0"/>
              <a:ext cx="3160554" cy="609600"/>
            </a:xfrm>
            <a:prstGeom prst="rect">
              <a:avLst/>
            </a:prstGeom>
          </p:spPr>
          <p:txBody>
            <a:bodyPr lIns="6244" tIns="6244" rIns="6244" bIns="6244" rtlCol="0" anchor="ctr"/>
            <a:lstStyle/>
            <a:p>
              <a:pPr marL="0" lvl="0" indent="0" algn="ctr">
                <a:lnSpc>
                  <a:spcPts val="184"/>
                </a:lnSpc>
                <a:spcBef>
                  <a:spcPct val="0"/>
                </a:spcBef>
              </a:pPr>
              <a:endParaRPr/>
            </a:p>
          </p:txBody>
        </p:sp>
      </p:grpSp>
      <p:grpSp>
        <p:nvGrpSpPr>
          <p:cNvPr id="8" name="Group 8"/>
          <p:cNvGrpSpPr/>
          <p:nvPr/>
        </p:nvGrpSpPr>
        <p:grpSpPr>
          <a:xfrm rot="-10800000">
            <a:off x="5739545" y="9936000"/>
            <a:ext cx="2609006" cy="472820"/>
            <a:chOff x="0" y="0"/>
            <a:chExt cx="3363754" cy="609600"/>
          </a:xfrm>
        </p:grpSpPr>
        <p:sp>
          <p:nvSpPr>
            <p:cNvPr id="9" name="Freeform 9"/>
            <p:cNvSpPr/>
            <p:nvPr/>
          </p:nvSpPr>
          <p:spPr>
            <a:xfrm>
              <a:off x="0" y="0"/>
              <a:ext cx="3363754" cy="609600"/>
            </a:xfrm>
            <a:custGeom>
              <a:avLst/>
              <a:gdLst/>
              <a:ahLst/>
              <a:cxnLst/>
              <a:rect l="l" t="t" r="r" b="b"/>
              <a:pathLst>
                <a:path w="3363754" h="609600">
                  <a:moveTo>
                    <a:pt x="203200" y="0"/>
                  </a:moveTo>
                  <a:lnTo>
                    <a:pt x="3363754" y="0"/>
                  </a:lnTo>
                  <a:lnTo>
                    <a:pt x="3160554" y="609600"/>
                  </a:lnTo>
                  <a:lnTo>
                    <a:pt x="0" y="609600"/>
                  </a:lnTo>
                  <a:lnTo>
                    <a:pt x="203200" y="0"/>
                  </a:lnTo>
                  <a:close/>
                </a:path>
              </a:pathLst>
            </a:custGeom>
            <a:gradFill rotWithShape="1">
              <a:gsLst>
                <a:gs pos="0">
                  <a:srgbClr val="FF5959">
                    <a:alpha val="100000"/>
                  </a:srgbClr>
                </a:gs>
                <a:gs pos="100000">
                  <a:srgbClr val="220000">
                    <a:alpha val="100000"/>
                  </a:srgbClr>
                </a:gs>
              </a:gsLst>
              <a:lin ang="0"/>
            </a:gradFill>
            <a:ln cap="sq">
              <a:noFill/>
              <a:prstDash val="solid"/>
              <a:miter/>
            </a:ln>
          </p:spPr>
          <p:txBody>
            <a:bodyPr/>
            <a:lstStyle/>
            <a:p>
              <a:endParaRPr lang="en-US"/>
            </a:p>
          </p:txBody>
        </p:sp>
        <p:sp>
          <p:nvSpPr>
            <p:cNvPr id="10" name="TextBox 10"/>
            <p:cNvSpPr txBox="1"/>
            <p:nvPr/>
          </p:nvSpPr>
          <p:spPr>
            <a:xfrm>
              <a:off x="101600" y="0"/>
              <a:ext cx="3160554" cy="609600"/>
            </a:xfrm>
            <a:prstGeom prst="rect">
              <a:avLst/>
            </a:prstGeom>
          </p:spPr>
          <p:txBody>
            <a:bodyPr lIns="6244" tIns="6244" rIns="6244" bIns="6244" rtlCol="0" anchor="ctr"/>
            <a:lstStyle/>
            <a:p>
              <a:pPr marL="0" lvl="0" indent="0" algn="ctr">
                <a:lnSpc>
                  <a:spcPts val="184"/>
                </a:lnSpc>
                <a:spcBef>
                  <a:spcPct val="0"/>
                </a:spcBef>
              </a:pPr>
              <a:endParaRPr/>
            </a:p>
          </p:txBody>
        </p:sp>
      </p:grpSp>
      <p:sp>
        <p:nvSpPr>
          <p:cNvPr id="11" name="Freeform 11"/>
          <p:cNvSpPr/>
          <p:nvPr/>
        </p:nvSpPr>
        <p:spPr>
          <a:xfrm rot="-10800000">
            <a:off x="756000" y="704033"/>
            <a:ext cx="339399" cy="218679"/>
          </a:xfrm>
          <a:custGeom>
            <a:avLst/>
            <a:gdLst/>
            <a:ahLst/>
            <a:cxnLst/>
            <a:rect l="l" t="t" r="r" b="b"/>
            <a:pathLst>
              <a:path w="339399" h="218679">
                <a:moveTo>
                  <a:pt x="0" y="0"/>
                </a:moveTo>
                <a:lnTo>
                  <a:pt x="339399" y="0"/>
                </a:lnTo>
                <a:lnTo>
                  <a:pt x="339399" y="218679"/>
                </a:lnTo>
                <a:lnTo>
                  <a:pt x="0" y="218679"/>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2" name="Freeform 12"/>
          <p:cNvSpPr/>
          <p:nvPr/>
        </p:nvSpPr>
        <p:spPr>
          <a:xfrm>
            <a:off x="756000" y="1491779"/>
            <a:ext cx="6048000" cy="4033260"/>
          </a:xfrm>
          <a:custGeom>
            <a:avLst/>
            <a:gdLst/>
            <a:ahLst/>
            <a:cxnLst/>
            <a:rect l="l" t="t" r="r" b="b"/>
            <a:pathLst>
              <a:path w="6048000" h="4033260">
                <a:moveTo>
                  <a:pt x="0" y="0"/>
                </a:moveTo>
                <a:lnTo>
                  <a:pt x="6048000" y="0"/>
                </a:lnTo>
                <a:lnTo>
                  <a:pt x="6048000" y="4033260"/>
                </a:lnTo>
                <a:lnTo>
                  <a:pt x="0" y="4033260"/>
                </a:lnTo>
                <a:lnTo>
                  <a:pt x="0" y="0"/>
                </a:lnTo>
                <a:close/>
              </a:path>
            </a:pathLst>
          </a:custGeom>
          <a:blipFill>
            <a:blip r:embed="rId4"/>
            <a:stretch>
              <a:fillRect/>
            </a:stretch>
          </a:blipFill>
        </p:spPr>
        <p:txBody>
          <a:bodyPr/>
          <a:lstStyle/>
          <a:p>
            <a:endParaRPr lang="en-US"/>
          </a:p>
        </p:txBody>
      </p:sp>
      <p:sp>
        <p:nvSpPr>
          <p:cNvPr id="13" name="TextBox 13"/>
          <p:cNvSpPr txBox="1"/>
          <p:nvPr/>
        </p:nvSpPr>
        <p:spPr>
          <a:xfrm>
            <a:off x="573128" y="5886989"/>
            <a:ext cx="5877367" cy="1530693"/>
          </a:xfrm>
          <a:prstGeom prst="rect">
            <a:avLst/>
          </a:prstGeom>
        </p:spPr>
        <p:txBody>
          <a:bodyPr lIns="0" tIns="0" rIns="0" bIns="0" rtlCol="0" anchor="t">
            <a:spAutoFit/>
          </a:bodyPr>
          <a:lstStyle/>
          <a:p>
            <a:pPr marL="0" lvl="0" indent="0" algn="l">
              <a:lnSpc>
                <a:spcPts val="5900"/>
              </a:lnSpc>
              <a:spcBef>
                <a:spcPct val="0"/>
              </a:spcBef>
            </a:pPr>
            <a:r>
              <a:rPr lang="en-US" sz="6210" b="1" u="none" strike="noStrike" spc="-6">
                <a:solidFill>
                  <a:srgbClr val="1C2120"/>
                </a:solidFill>
                <a:latin typeface="Lora Bold"/>
                <a:ea typeface="Lora Bold"/>
                <a:cs typeface="Lora Bold"/>
                <a:sym typeface="Lora Bold"/>
              </a:rPr>
              <a:t>Executive summary</a:t>
            </a:r>
          </a:p>
        </p:txBody>
      </p:sp>
      <p:sp>
        <p:nvSpPr>
          <p:cNvPr id="14" name="TextBox 14"/>
          <p:cNvSpPr txBox="1"/>
          <p:nvPr/>
        </p:nvSpPr>
        <p:spPr>
          <a:xfrm>
            <a:off x="3616570" y="7536745"/>
            <a:ext cx="3187430" cy="2425700"/>
          </a:xfrm>
          <a:prstGeom prst="rect">
            <a:avLst/>
          </a:prstGeom>
        </p:spPr>
        <p:txBody>
          <a:bodyPr lIns="0" tIns="0" rIns="0" bIns="0" rtlCol="0" anchor="t">
            <a:spAutoFit/>
          </a:bodyPr>
          <a:lstStyle/>
          <a:p>
            <a:pPr algn="l">
              <a:lnSpc>
                <a:spcPts val="1299"/>
              </a:lnSpc>
            </a:pPr>
            <a:r>
              <a:rPr lang="en-US" sz="999">
                <a:solidFill>
                  <a:srgbClr val="1C2120"/>
                </a:solidFill>
                <a:latin typeface="Lora"/>
                <a:ea typeface="Lora"/>
                <a:cs typeface="Lora"/>
                <a:sym typeface="Lora"/>
              </a:rPr>
              <a:t>Many companies have continued with the status quo, leaving them behind in a rapidly evolving market, plagued by inefficiencies and human error.</a:t>
            </a:r>
          </a:p>
          <a:p>
            <a:pPr algn="l">
              <a:lnSpc>
                <a:spcPts val="1299"/>
              </a:lnSpc>
            </a:pPr>
            <a:r>
              <a:rPr lang="en-US" sz="999">
                <a:solidFill>
                  <a:srgbClr val="1C2120"/>
                </a:solidFill>
                <a:latin typeface="Lora"/>
                <a:ea typeface="Lora"/>
                <a:cs typeface="Lora"/>
                <a:sym typeface="Lora"/>
              </a:rPr>
              <a:t>To prevent this, this project analyzes the top 10 giants in the stock market listed on the S&amp;P 500, Amazon, Apple, Nvidia, Google, GOOG, Meta, Microsoft, UnitedHealth, Tesla, and Berkshire Hathaway. It examines key financial indicators such as trade volume, dividends, stock splits, trade open and close prices, as well as market highs and lows.</a:t>
            </a:r>
          </a:p>
          <a:p>
            <a:pPr algn="l">
              <a:lnSpc>
                <a:spcPts val="1299"/>
              </a:lnSpc>
            </a:pPr>
            <a:r>
              <a:rPr lang="en-US" sz="999">
                <a:solidFill>
                  <a:srgbClr val="1C2120"/>
                </a:solidFill>
                <a:latin typeface="Lora"/>
                <a:ea typeface="Lora"/>
                <a:cs typeface="Lora"/>
                <a:sym typeface="Lora"/>
              </a:rPr>
              <a:t>This initiative marks a transformative step for Trade Prof, enhancing trading efficiency and enabling seamless, data-driven decision-making, even while asleep.</a:t>
            </a:r>
          </a:p>
          <a:p>
            <a:pPr algn="l">
              <a:lnSpc>
                <a:spcPts val="1299"/>
              </a:lnSpc>
              <a:spcBef>
                <a:spcPct val="0"/>
              </a:spcBef>
            </a:pPr>
            <a:endParaRPr lang="en-US" sz="999">
              <a:solidFill>
                <a:srgbClr val="1C2120"/>
              </a:solidFill>
              <a:latin typeface="Lora"/>
              <a:ea typeface="Lora"/>
              <a:cs typeface="Lora"/>
              <a:sym typeface="Lora"/>
            </a:endParaRPr>
          </a:p>
        </p:txBody>
      </p:sp>
      <p:sp>
        <p:nvSpPr>
          <p:cNvPr id="15" name="TextBox 15"/>
          <p:cNvSpPr txBox="1"/>
          <p:nvPr/>
        </p:nvSpPr>
        <p:spPr>
          <a:xfrm>
            <a:off x="573128" y="7617707"/>
            <a:ext cx="2492391" cy="2263775"/>
          </a:xfrm>
          <a:prstGeom prst="rect">
            <a:avLst/>
          </a:prstGeom>
        </p:spPr>
        <p:txBody>
          <a:bodyPr lIns="0" tIns="0" rIns="0" bIns="0" rtlCol="0" anchor="t">
            <a:spAutoFit/>
          </a:bodyPr>
          <a:lstStyle/>
          <a:p>
            <a:pPr algn="l">
              <a:lnSpc>
                <a:spcPts val="1299"/>
              </a:lnSpc>
            </a:pPr>
            <a:r>
              <a:rPr lang="en-US" sz="999">
                <a:solidFill>
                  <a:srgbClr val="1C2120"/>
                </a:solidFill>
                <a:latin typeface="Lora"/>
                <a:ea typeface="Lora"/>
                <a:cs typeface="Lora"/>
                <a:sym typeface="Lora"/>
              </a:rPr>
              <a:t>The trade market has been highly volatile in recent years, requiring constant monitoring and analysis to predict bull and bear trends. Anchor companies are undergoing continuous transformation as they compete to lead the Fourth Industrial Revolution.</a:t>
            </a:r>
          </a:p>
          <a:p>
            <a:pPr algn="l">
              <a:lnSpc>
                <a:spcPts val="1299"/>
              </a:lnSpc>
            </a:pPr>
            <a:r>
              <a:rPr lang="en-US" sz="999">
                <a:solidFill>
                  <a:srgbClr val="1C2120"/>
                </a:solidFill>
                <a:latin typeface="Lora"/>
                <a:ea typeface="Lora"/>
                <a:cs typeface="Lora"/>
                <a:sym typeface="Lora"/>
              </a:rPr>
              <a:t>Trade Prof has recognized these signals and is prepared for both the changes and their aftereffects. AI has revolutionized industries such as marketing, gaming, technology, finance, and more, reshaping the global economic landscape</a:t>
            </a:r>
          </a:p>
          <a:p>
            <a:pPr algn="l">
              <a:lnSpc>
                <a:spcPts val="1299"/>
              </a:lnSpc>
              <a:spcBef>
                <a:spcPct val="0"/>
              </a:spcBef>
            </a:pPr>
            <a:endParaRPr lang="en-US" sz="999">
              <a:solidFill>
                <a:srgbClr val="1C2120"/>
              </a:solidFill>
              <a:latin typeface="Lora"/>
              <a:ea typeface="Lora"/>
              <a:cs typeface="Lora"/>
              <a:sym typeface="Lora"/>
            </a:endParaRPr>
          </a:p>
        </p:txBody>
      </p:sp>
      <p:sp>
        <p:nvSpPr>
          <p:cNvPr id="16" name="TextBox 16"/>
          <p:cNvSpPr txBox="1"/>
          <p:nvPr/>
        </p:nvSpPr>
        <p:spPr>
          <a:xfrm>
            <a:off x="1380025" y="679985"/>
            <a:ext cx="2042440" cy="258442"/>
          </a:xfrm>
          <a:prstGeom prst="rect">
            <a:avLst/>
          </a:prstGeom>
        </p:spPr>
        <p:txBody>
          <a:bodyPr lIns="0" tIns="0" rIns="0" bIns="0" rtlCol="0" anchor="t">
            <a:spAutoFit/>
          </a:bodyPr>
          <a:lstStyle/>
          <a:p>
            <a:pPr marL="0" lvl="0" indent="0" algn="l">
              <a:lnSpc>
                <a:spcPts val="2030"/>
              </a:lnSpc>
              <a:spcBef>
                <a:spcPct val="0"/>
              </a:spcBef>
            </a:pPr>
            <a:r>
              <a:rPr lang="en-US" sz="1450" b="1">
                <a:solidFill>
                  <a:srgbClr val="1C2120"/>
                </a:solidFill>
                <a:latin typeface="Lora Bold"/>
                <a:ea typeface="Lora Bold"/>
                <a:cs typeface="Lora Bold"/>
                <a:sym typeface="Lora Bold"/>
              </a:rPr>
              <a:t>TRADE PROF</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670237" y="9055272"/>
            <a:ext cx="9320644" cy="2092658"/>
            <a:chOff x="0" y="0"/>
            <a:chExt cx="3340309" cy="749961"/>
          </a:xfrm>
        </p:grpSpPr>
        <p:sp>
          <p:nvSpPr>
            <p:cNvPr id="3" name="Freeform 3"/>
            <p:cNvSpPr/>
            <p:nvPr/>
          </p:nvSpPr>
          <p:spPr>
            <a:xfrm>
              <a:off x="0" y="0"/>
              <a:ext cx="3340309" cy="749961"/>
            </a:xfrm>
            <a:custGeom>
              <a:avLst/>
              <a:gdLst/>
              <a:ahLst/>
              <a:cxnLst/>
              <a:rect l="l" t="t" r="r" b="b"/>
              <a:pathLst>
                <a:path w="3340309" h="749961">
                  <a:moveTo>
                    <a:pt x="0" y="0"/>
                  </a:moveTo>
                  <a:lnTo>
                    <a:pt x="3340309" y="0"/>
                  </a:lnTo>
                  <a:lnTo>
                    <a:pt x="3340309" y="749961"/>
                  </a:lnTo>
                  <a:lnTo>
                    <a:pt x="0" y="749961"/>
                  </a:lnTo>
                  <a:close/>
                </a:path>
              </a:pathLst>
            </a:custGeom>
            <a:gradFill rotWithShape="1">
              <a:gsLst>
                <a:gs pos="0">
                  <a:srgbClr val="FF5959">
                    <a:alpha val="100000"/>
                  </a:srgbClr>
                </a:gs>
                <a:gs pos="100000">
                  <a:srgbClr val="220000">
                    <a:alpha val="100000"/>
                  </a:srgbClr>
                </a:gs>
              </a:gsLst>
              <a:lin ang="0"/>
            </a:gradFill>
            <a:ln cap="sq">
              <a:noFill/>
              <a:prstDash val="solid"/>
              <a:miter/>
            </a:ln>
          </p:spPr>
          <p:txBody>
            <a:bodyPr/>
            <a:lstStyle/>
            <a:p>
              <a:endParaRPr lang="en-US"/>
            </a:p>
          </p:txBody>
        </p:sp>
        <p:sp>
          <p:nvSpPr>
            <p:cNvPr id="4" name="TextBox 4"/>
            <p:cNvSpPr txBox="1"/>
            <p:nvPr/>
          </p:nvSpPr>
          <p:spPr>
            <a:xfrm>
              <a:off x="0" y="0"/>
              <a:ext cx="3340309" cy="749961"/>
            </a:xfrm>
            <a:prstGeom prst="rect">
              <a:avLst/>
            </a:prstGeom>
          </p:spPr>
          <p:txBody>
            <a:bodyPr lIns="50800" tIns="50800" rIns="50800" bIns="50800" rtlCol="0" anchor="ctr"/>
            <a:lstStyle/>
            <a:p>
              <a:pPr marL="0" lvl="0" indent="0" algn="ctr">
                <a:lnSpc>
                  <a:spcPts val="184"/>
                </a:lnSpc>
                <a:spcBef>
                  <a:spcPct val="0"/>
                </a:spcBef>
              </a:pPr>
              <a:endParaRPr/>
            </a:p>
          </p:txBody>
        </p:sp>
      </p:grpSp>
      <p:grpSp>
        <p:nvGrpSpPr>
          <p:cNvPr id="5" name="Group 5"/>
          <p:cNvGrpSpPr/>
          <p:nvPr/>
        </p:nvGrpSpPr>
        <p:grpSpPr>
          <a:xfrm rot="-10800000">
            <a:off x="-3132318" y="1017178"/>
            <a:ext cx="9126711" cy="2796042"/>
            <a:chOff x="0" y="0"/>
            <a:chExt cx="1989828" cy="609600"/>
          </a:xfrm>
        </p:grpSpPr>
        <p:sp>
          <p:nvSpPr>
            <p:cNvPr id="6" name="Freeform 6"/>
            <p:cNvSpPr/>
            <p:nvPr/>
          </p:nvSpPr>
          <p:spPr>
            <a:xfrm>
              <a:off x="0" y="0"/>
              <a:ext cx="1989828" cy="609600"/>
            </a:xfrm>
            <a:custGeom>
              <a:avLst/>
              <a:gdLst/>
              <a:ahLst/>
              <a:cxnLst/>
              <a:rect l="l" t="t" r="r" b="b"/>
              <a:pathLst>
                <a:path w="1989828" h="609600">
                  <a:moveTo>
                    <a:pt x="203200" y="0"/>
                  </a:moveTo>
                  <a:lnTo>
                    <a:pt x="1989828" y="0"/>
                  </a:lnTo>
                  <a:lnTo>
                    <a:pt x="1786628" y="609600"/>
                  </a:lnTo>
                  <a:lnTo>
                    <a:pt x="0" y="609600"/>
                  </a:lnTo>
                  <a:lnTo>
                    <a:pt x="203200" y="0"/>
                  </a:lnTo>
                  <a:close/>
                </a:path>
              </a:pathLst>
            </a:custGeom>
            <a:gradFill rotWithShape="1">
              <a:gsLst>
                <a:gs pos="0">
                  <a:srgbClr val="FF5959">
                    <a:alpha val="100000"/>
                  </a:srgbClr>
                </a:gs>
                <a:gs pos="100000">
                  <a:srgbClr val="220000">
                    <a:alpha val="100000"/>
                  </a:srgbClr>
                </a:gs>
              </a:gsLst>
              <a:lin ang="0"/>
            </a:gradFill>
            <a:ln cap="sq">
              <a:noFill/>
              <a:prstDash val="solid"/>
              <a:miter/>
            </a:ln>
          </p:spPr>
          <p:txBody>
            <a:bodyPr/>
            <a:lstStyle/>
            <a:p>
              <a:endParaRPr lang="en-US"/>
            </a:p>
          </p:txBody>
        </p:sp>
        <p:sp>
          <p:nvSpPr>
            <p:cNvPr id="7" name="TextBox 7"/>
            <p:cNvSpPr txBox="1"/>
            <p:nvPr/>
          </p:nvSpPr>
          <p:spPr>
            <a:xfrm>
              <a:off x="101600" y="0"/>
              <a:ext cx="1786628" cy="609600"/>
            </a:xfrm>
            <a:prstGeom prst="rect">
              <a:avLst/>
            </a:prstGeom>
          </p:spPr>
          <p:txBody>
            <a:bodyPr lIns="6244" tIns="6244" rIns="6244" bIns="6244" rtlCol="0" anchor="ctr"/>
            <a:lstStyle/>
            <a:p>
              <a:pPr marL="0" lvl="0" indent="0" algn="ctr">
                <a:lnSpc>
                  <a:spcPts val="184"/>
                </a:lnSpc>
                <a:spcBef>
                  <a:spcPct val="0"/>
                </a:spcBef>
              </a:pPr>
              <a:endParaRPr/>
            </a:p>
          </p:txBody>
        </p:sp>
      </p:grpSp>
      <p:grpSp>
        <p:nvGrpSpPr>
          <p:cNvPr id="8" name="Group 8"/>
          <p:cNvGrpSpPr/>
          <p:nvPr/>
        </p:nvGrpSpPr>
        <p:grpSpPr>
          <a:xfrm rot="6528356">
            <a:off x="3766197" y="1088490"/>
            <a:ext cx="5074630" cy="1451700"/>
            <a:chOff x="0" y="0"/>
            <a:chExt cx="1106384" cy="316503"/>
          </a:xfrm>
        </p:grpSpPr>
        <p:sp>
          <p:nvSpPr>
            <p:cNvPr id="9" name="Freeform 9"/>
            <p:cNvSpPr/>
            <p:nvPr/>
          </p:nvSpPr>
          <p:spPr>
            <a:xfrm>
              <a:off x="0" y="0"/>
              <a:ext cx="1106384" cy="316503"/>
            </a:xfrm>
            <a:custGeom>
              <a:avLst/>
              <a:gdLst/>
              <a:ahLst/>
              <a:cxnLst/>
              <a:rect l="l" t="t" r="r" b="b"/>
              <a:pathLst>
                <a:path w="1106384" h="316503">
                  <a:moveTo>
                    <a:pt x="0" y="0"/>
                  </a:moveTo>
                  <a:lnTo>
                    <a:pt x="1106384" y="0"/>
                  </a:lnTo>
                  <a:lnTo>
                    <a:pt x="1106384" y="316503"/>
                  </a:lnTo>
                  <a:lnTo>
                    <a:pt x="0" y="316503"/>
                  </a:lnTo>
                  <a:close/>
                </a:path>
              </a:pathLst>
            </a:custGeom>
            <a:solidFill>
              <a:srgbClr val="FFFFFF"/>
            </a:solidFill>
          </p:spPr>
          <p:txBody>
            <a:bodyPr/>
            <a:lstStyle/>
            <a:p>
              <a:endParaRPr lang="en-US"/>
            </a:p>
          </p:txBody>
        </p:sp>
        <p:sp>
          <p:nvSpPr>
            <p:cNvPr id="10" name="TextBox 10"/>
            <p:cNvSpPr txBox="1"/>
            <p:nvPr/>
          </p:nvSpPr>
          <p:spPr>
            <a:xfrm>
              <a:off x="0" y="0"/>
              <a:ext cx="1106384" cy="316503"/>
            </a:xfrm>
            <a:prstGeom prst="rect">
              <a:avLst/>
            </a:prstGeom>
          </p:spPr>
          <p:txBody>
            <a:bodyPr lIns="6244" tIns="6244" rIns="6244" bIns="6244" rtlCol="0" anchor="ctr"/>
            <a:lstStyle/>
            <a:p>
              <a:pPr algn="ctr">
                <a:lnSpc>
                  <a:spcPts val="184"/>
                </a:lnSpc>
              </a:pPr>
              <a:endParaRPr/>
            </a:p>
          </p:txBody>
        </p:sp>
      </p:grpSp>
      <p:grpSp>
        <p:nvGrpSpPr>
          <p:cNvPr id="11" name="Group 11"/>
          <p:cNvGrpSpPr/>
          <p:nvPr/>
        </p:nvGrpSpPr>
        <p:grpSpPr>
          <a:xfrm rot="6528356">
            <a:off x="4504110" y="2756274"/>
            <a:ext cx="2573186" cy="1252435"/>
            <a:chOff x="0" y="0"/>
            <a:chExt cx="561012" cy="273059"/>
          </a:xfrm>
        </p:grpSpPr>
        <p:sp>
          <p:nvSpPr>
            <p:cNvPr id="12" name="Freeform 12"/>
            <p:cNvSpPr/>
            <p:nvPr/>
          </p:nvSpPr>
          <p:spPr>
            <a:xfrm>
              <a:off x="0" y="0"/>
              <a:ext cx="561012" cy="273059"/>
            </a:xfrm>
            <a:custGeom>
              <a:avLst/>
              <a:gdLst/>
              <a:ahLst/>
              <a:cxnLst/>
              <a:rect l="l" t="t" r="r" b="b"/>
              <a:pathLst>
                <a:path w="561012" h="273059">
                  <a:moveTo>
                    <a:pt x="0" y="0"/>
                  </a:moveTo>
                  <a:lnTo>
                    <a:pt x="561012" y="0"/>
                  </a:lnTo>
                  <a:lnTo>
                    <a:pt x="561012" y="273059"/>
                  </a:lnTo>
                  <a:lnTo>
                    <a:pt x="0" y="273059"/>
                  </a:lnTo>
                  <a:close/>
                </a:path>
              </a:pathLst>
            </a:custGeom>
            <a:gradFill rotWithShape="1">
              <a:gsLst>
                <a:gs pos="0">
                  <a:srgbClr val="FF5959">
                    <a:alpha val="100000"/>
                  </a:srgbClr>
                </a:gs>
                <a:gs pos="100000">
                  <a:srgbClr val="220000">
                    <a:alpha val="100000"/>
                  </a:srgbClr>
                </a:gs>
              </a:gsLst>
              <a:lin ang="0"/>
            </a:gradFill>
            <a:ln cap="sq">
              <a:noFill/>
              <a:prstDash val="solid"/>
              <a:miter/>
            </a:ln>
          </p:spPr>
          <p:txBody>
            <a:bodyPr/>
            <a:lstStyle/>
            <a:p>
              <a:endParaRPr lang="en-US"/>
            </a:p>
          </p:txBody>
        </p:sp>
        <p:sp>
          <p:nvSpPr>
            <p:cNvPr id="13" name="TextBox 13"/>
            <p:cNvSpPr txBox="1"/>
            <p:nvPr/>
          </p:nvSpPr>
          <p:spPr>
            <a:xfrm>
              <a:off x="0" y="0"/>
              <a:ext cx="561012" cy="273059"/>
            </a:xfrm>
            <a:prstGeom prst="rect">
              <a:avLst/>
            </a:prstGeom>
          </p:spPr>
          <p:txBody>
            <a:bodyPr lIns="6244" tIns="6244" rIns="6244" bIns="6244" rtlCol="0" anchor="ctr"/>
            <a:lstStyle/>
            <a:p>
              <a:pPr marL="0" lvl="0" indent="0" algn="ctr">
                <a:lnSpc>
                  <a:spcPts val="184"/>
                </a:lnSpc>
                <a:spcBef>
                  <a:spcPct val="0"/>
                </a:spcBef>
              </a:pPr>
              <a:endParaRPr/>
            </a:p>
          </p:txBody>
        </p:sp>
      </p:grpSp>
      <p:grpSp>
        <p:nvGrpSpPr>
          <p:cNvPr id="14" name="Group 14"/>
          <p:cNvGrpSpPr/>
          <p:nvPr/>
        </p:nvGrpSpPr>
        <p:grpSpPr>
          <a:xfrm rot="-10800000">
            <a:off x="6402405" y="1840451"/>
            <a:ext cx="5762285" cy="1972769"/>
            <a:chOff x="0" y="0"/>
            <a:chExt cx="1780588" cy="609600"/>
          </a:xfrm>
        </p:grpSpPr>
        <p:sp>
          <p:nvSpPr>
            <p:cNvPr id="15" name="Freeform 15"/>
            <p:cNvSpPr/>
            <p:nvPr/>
          </p:nvSpPr>
          <p:spPr>
            <a:xfrm>
              <a:off x="0" y="0"/>
              <a:ext cx="1780588" cy="609600"/>
            </a:xfrm>
            <a:custGeom>
              <a:avLst/>
              <a:gdLst/>
              <a:ahLst/>
              <a:cxnLst/>
              <a:rect l="l" t="t" r="r" b="b"/>
              <a:pathLst>
                <a:path w="1780588" h="609600">
                  <a:moveTo>
                    <a:pt x="203200" y="0"/>
                  </a:moveTo>
                  <a:lnTo>
                    <a:pt x="1780588" y="0"/>
                  </a:lnTo>
                  <a:lnTo>
                    <a:pt x="1577388" y="609600"/>
                  </a:lnTo>
                  <a:lnTo>
                    <a:pt x="0" y="609600"/>
                  </a:lnTo>
                  <a:lnTo>
                    <a:pt x="203200" y="0"/>
                  </a:lnTo>
                  <a:close/>
                </a:path>
              </a:pathLst>
            </a:custGeom>
            <a:gradFill rotWithShape="1">
              <a:gsLst>
                <a:gs pos="0">
                  <a:srgbClr val="FF5959">
                    <a:alpha val="100000"/>
                  </a:srgbClr>
                </a:gs>
                <a:gs pos="100000">
                  <a:srgbClr val="220000">
                    <a:alpha val="100000"/>
                  </a:srgbClr>
                </a:gs>
              </a:gsLst>
              <a:lin ang="0"/>
            </a:gradFill>
          </p:spPr>
          <p:txBody>
            <a:bodyPr/>
            <a:lstStyle/>
            <a:p>
              <a:endParaRPr lang="en-US"/>
            </a:p>
          </p:txBody>
        </p:sp>
        <p:sp>
          <p:nvSpPr>
            <p:cNvPr id="16" name="TextBox 16"/>
            <p:cNvSpPr txBox="1"/>
            <p:nvPr/>
          </p:nvSpPr>
          <p:spPr>
            <a:xfrm>
              <a:off x="101600" y="0"/>
              <a:ext cx="1577388" cy="609600"/>
            </a:xfrm>
            <a:prstGeom prst="rect">
              <a:avLst/>
            </a:prstGeom>
          </p:spPr>
          <p:txBody>
            <a:bodyPr lIns="6244" tIns="6244" rIns="6244" bIns="6244" rtlCol="0" anchor="ctr"/>
            <a:lstStyle/>
            <a:p>
              <a:pPr algn="ctr">
                <a:lnSpc>
                  <a:spcPts val="184"/>
                </a:lnSpc>
              </a:pPr>
              <a:endParaRPr/>
            </a:p>
          </p:txBody>
        </p:sp>
      </p:grpSp>
      <p:grpSp>
        <p:nvGrpSpPr>
          <p:cNvPr id="17" name="Group 17"/>
          <p:cNvGrpSpPr/>
          <p:nvPr/>
        </p:nvGrpSpPr>
        <p:grpSpPr>
          <a:xfrm rot="8779303">
            <a:off x="6327918" y="1463775"/>
            <a:ext cx="773730" cy="3025806"/>
            <a:chOff x="0" y="0"/>
            <a:chExt cx="168691" cy="659694"/>
          </a:xfrm>
        </p:grpSpPr>
        <p:sp>
          <p:nvSpPr>
            <p:cNvPr id="18" name="Freeform 18"/>
            <p:cNvSpPr/>
            <p:nvPr/>
          </p:nvSpPr>
          <p:spPr>
            <a:xfrm>
              <a:off x="0" y="0"/>
              <a:ext cx="168691" cy="659694"/>
            </a:xfrm>
            <a:custGeom>
              <a:avLst/>
              <a:gdLst/>
              <a:ahLst/>
              <a:cxnLst/>
              <a:rect l="l" t="t" r="r" b="b"/>
              <a:pathLst>
                <a:path w="168691" h="659694">
                  <a:moveTo>
                    <a:pt x="0" y="0"/>
                  </a:moveTo>
                  <a:lnTo>
                    <a:pt x="168691" y="0"/>
                  </a:lnTo>
                  <a:lnTo>
                    <a:pt x="168691" y="659694"/>
                  </a:lnTo>
                  <a:lnTo>
                    <a:pt x="0" y="659694"/>
                  </a:lnTo>
                  <a:close/>
                </a:path>
              </a:pathLst>
            </a:custGeom>
            <a:solidFill>
              <a:srgbClr val="FFFFFF"/>
            </a:solidFill>
          </p:spPr>
          <p:txBody>
            <a:bodyPr/>
            <a:lstStyle/>
            <a:p>
              <a:endParaRPr lang="en-US"/>
            </a:p>
          </p:txBody>
        </p:sp>
        <p:sp>
          <p:nvSpPr>
            <p:cNvPr id="19" name="TextBox 19"/>
            <p:cNvSpPr txBox="1"/>
            <p:nvPr/>
          </p:nvSpPr>
          <p:spPr>
            <a:xfrm>
              <a:off x="0" y="0"/>
              <a:ext cx="168691" cy="659694"/>
            </a:xfrm>
            <a:prstGeom prst="rect">
              <a:avLst/>
            </a:prstGeom>
          </p:spPr>
          <p:txBody>
            <a:bodyPr lIns="6244" tIns="6244" rIns="6244" bIns="6244" rtlCol="0" anchor="ctr"/>
            <a:lstStyle/>
            <a:p>
              <a:pPr algn="ctr">
                <a:lnSpc>
                  <a:spcPts val="184"/>
                </a:lnSpc>
              </a:pPr>
              <a:endParaRPr/>
            </a:p>
          </p:txBody>
        </p:sp>
      </p:grpSp>
      <p:grpSp>
        <p:nvGrpSpPr>
          <p:cNvPr id="20" name="Group 20"/>
          <p:cNvGrpSpPr/>
          <p:nvPr/>
        </p:nvGrpSpPr>
        <p:grpSpPr>
          <a:xfrm rot="-10800000">
            <a:off x="-650754" y="3253342"/>
            <a:ext cx="10479051" cy="2092658"/>
            <a:chOff x="0" y="0"/>
            <a:chExt cx="3755455" cy="749961"/>
          </a:xfrm>
        </p:grpSpPr>
        <p:sp>
          <p:nvSpPr>
            <p:cNvPr id="21" name="Freeform 21"/>
            <p:cNvSpPr/>
            <p:nvPr/>
          </p:nvSpPr>
          <p:spPr>
            <a:xfrm>
              <a:off x="0" y="0"/>
              <a:ext cx="3755455" cy="749961"/>
            </a:xfrm>
            <a:custGeom>
              <a:avLst/>
              <a:gdLst/>
              <a:ahLst/>
              <a:cxnLst/>
              <a:rect l="l" t="t" r="r" b="b"/>
              <a:pathLst>
                <a:path w="3755455" h="749961">
                  <a:moveTo>
                    <a:pt x="0" y="0"/>
                  </a:moveTo>
                  <a:lnTo>
                    <a:pt x="3755455" y="0"/>
                  </a:lnTo>
                  <a:lnTo>
                    <a:pt x="3755455" y="749961"/>
                  </a:lnTo>
                  <a:lnTo>
                    <a:pt x="0" y="749961"/>
                  </a:lnTo>
                  <a:close/>
                </a:path>
              </a:pathLst>
            </a:custGeom>
            <a:solidFill>
              <a:srgbClr val="FFFFFF"/>
            </a:solidFill>
            <a:ln cap="sq">
              <a:noFill/>
              <a:prstDash val="solid"/>
              <a:miter/>
            </a:ln>
          </p:spPr>
          <p:txBody>
            <a:bodyPr/>
            <a:lstStyle/>
            <a:p>
              <a:endParaRPr lang="en-US"/>
            </a:p>
          </p:txBody>
        </p:sp>
        <p:sp>
          <p:nvSpPr>
            <p:cNvPr id="22" name="TextBox 22"/>
            <p:cNvSpPr txBox="1"/>
            <p:nvPr/>
          </p:nvSpPr>
          <p:spPr>
            <a:xfrm>
              <a:off x="0" y="0"/>
              <a:ext cx="3755455" cy="749961"/>
            </a:xfrm>
            <a:prstGeom prst="rect">
              <a:avLst/>
            </a:prstGeom>
          </p:spPr>
          <p:txBody>
            <a:bodyPr lIns="50800" tIns="50800" rIns="50800" bIns="50800" rtlCol="0" anchor="ctr"/>
            <a:lstStyle/>
            <a:p>
              <a:pPr marL="0" lvl="0" indent="0" algn="ctr">
                <a:lnSpc>
                  <a:spcPts val="184"/>
                </a:lnSpc>
                <a:spcBef>
                  <a:spcPct val="0"/>
                </a:spcBef>
              </a:pPr>
              <a:endParaRPr/>
            </a:p>
          </p:txBody>
        </p:sp>
      </p:grpSp>
      <p:grpSp>
        <p:nvGrpSpPr>
          <p:cNvPr id="23" name="Group 23"/>
          <p:cNvGrpSpPr/>
          <p:nvPr/>
        </p:nvGrpSpPr>
        <p:grpSpPr>
          <a:xfrm rot="-10800000">
            <a:off x="5994393" y="1441855"/>
            <a:ext cx="4712951" cy="520857"/>
            <a:chOff x="0" y="0"/>
            <a:chExt cx="5515934" cy="609600"/>
          </a:xfrm>
        </p:grpSpPr>
        <p:sp>
          <p:nvSpPr>
            <p:cNvPr id="24" name="Freeform 24"/>
            <p:cNvSpPr/>
            <p:nvPr/>
          </p:nvSpPr>
          <p:spPr>
            <a:xfrm>
              <a:off x="0" y="0"/>
              <a:ext cx="5515934" cy="609600"/>
            </a:xfrm>
            <a:custGeom>
              <a:avLst/>
              <a:gdLst/>
              <a:ahLst/>
              <a:cxnLst/>
              <a:rect l="l" t="t" r="r" b="b"/>
              <a:pathLst>
                <a:path w="5515934" h="609600">
                  <a:moveTo>
                    <a:pt x="203200" y="0"/>
                  </a:moveTo>
                  <a:lnTo>
                    <a:pt x="5515934" y="0"/>
                  </a:lnTo>
                  <a:lnTo>
                    <a:pt x="5312734" y="609600"/>
                  </a:lnTo>
                  <a:lnTo>
                    <a:pt x="0" y="609600"/>
                  </a:lnTo>
                  <a:lnTo>
                    <a:pt x="203200" y="0"/>
                  </a:lnTo>
                  <a:close/>
                </a:path>
              </a:pathLst>
            </a:custGeom>
            <a:gradFill rotWithShape="1">
              <a:gsLst>
                <a:gs pos="0">
                  <a:srgbClr val="FF5959">
                    <a:alpha val="100000"/>
                  </a:srgbClr>
                </a:gs>
                <a:gs pos="100000">
                  <a:srgbClr val="220000">
                    <a:alpha val="100000"/>
                  </a:srgbClr>
                </a:gs>
              </a:gsLst>
              <a:lin ang="0"/>
            </a:gradFill>
            <a:ln cap="sq">
              <a:noFill/>
              <a:prstDash val="solid"/>
              <a:miter/>
            </a:ln>
          </p:spPr>
          <p:txBody>
            <a:bodyPr/>
            <a:lstStyle/>
            <a:p>
              <a:endParaRPr lang="en-US"/>
            </a:p>
          </p:txBody>
        </p:sp>
        <p:sp>
          <p:nvSpPr>
            <p:cNvPr id="25" name="TextBox 25"/>
            <p:cNvSpPr txBox="1"/>
            <p:nvPr/>
          </p:nvSpPr>
          <p:spPr>
            <a:xfrm>
              <a:off x="101600" y="0"/>
              <a:ext cx="5312734" cy="609600"/>
            </a:xfrm>
            <a:prstGeom prst="rect">
              <a:avLst/>
            </a:prstGeom>
          </p:spPr>
          <p:txBody>
            <a:bodyPr lIns="6244" tIns="6244" rIns="6244" bIns="6244" rtlCol="0" anchor="ctr"/>
            <a:lstStyle/>
            <a:p>
              <a:pPr marL="0" lvl="0" indent="0" algn="ctr">
                <a:lnSpc>
                  <a:spcPts val="184"/>
                </a:lnSpc>
                <a:spcBef>
                  <a:spcPct val="0"/>
                </a:spcBef>
              </a:pPr>
              <a:endParaRPr/>
            </a:p>
          </p:txBody>
        </p:sp>
      </p:grpSp>
      <p:sp>
        <p:nvSpPr>
          <p:cNvPr id="26" name="Freeform 26"/>
          <p:cNvSpPr/>
          <p:nvPr/>
        </p:nvSpPr>
        <p:spPr>
          <a:xfrm rot="-10800000">
            <a:off x="756000" y="704033"/>
            <a:ext cx="339399" cy="218679"/>
          </a:xfrm>
          <a:custGeom>
            <a:avLst/>
            <a:gdLst/>
            <a:ahLst/>
            <a:cxnLst/>
            <a:rect l="l" t="t" r="r" b="b"/>
            <a:pathLst>
              <a:path w="339399" h="218679">
                <a:moveTo>
                  <a:pt x="0" y="0"/>
                </a:moveTo>
                <a:lnTo>
                  <a:pt x="339399" y="0"/>
                </a:lnTo>
                <a:lnTo>
                  <a:pt x="339399" y="218679"/>
                </a:lnTo>
                <a:lnTo>
                  <a:pt x="0" y="218679"/>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US"/>
          </a:p>
        </p:txBody>
      </p:sp>
      <p:sp>
        <p:nvSpPr>
          <p:cNvPr id="28" name="TextBox 28"/>
          <p:cNvSpPr txBox="1"/>
          <p:nvPr/>
        </p:nvSpPr>
        <p:spPr>
          <a:xfrm>
            <a:off x="477479" y="1445985"/>
            <a:ext cx="4111293" cy="787743"/>
          </a:xfrm>
          <a:prstGeom prst="rect">
            <a:avLst/>
          </a:prstGeom>
        </p:spPr>
        <p:txBody>
          <a:bodyPr lIns="0" tIns="0" rIns="0" bIns="0" rtlCol="0" anchor="t">
            <a:spAutoFit/>
          </a:bodyPr>
          <a:lstStyle/>
          <a:p>
            <a:pPr marL="0" lvl="0" indent="0" algn="l">
              <a:lnSpc>
                <a:spcPts val="5900"/>
              </a:lnSpc>
              <a:spcBef>
                <a:spcPct val="0"/>
              </a:spcBef>
            </a:pPr>
            <a:r>
              <a:rPr lang="en-US" sz="6210" b="1" spc="-6">
                <a:solidFill>
                  <a:srgbClr val="FFFFFF"/>
                </a:solidFill>
                <a:latin typeface="Lora Bold"/>
                <a:ea typeface="Lora Bold"/>
                <a:cs typeface="Lora Bold"/>
                <a:sym typeface="Lora Bold"/>
              </a:rPr>
              <a:t>Findings</a:t>
            </a:r>
          </a:p>
        </p:txBody>
      </p:sp>
      <p:sp>
        <p:nvSpPr>
          <p:cNvPr id="29" name="TextBox 29"/>
          <p:cNvSpPr txBox="1"/>
          <p:nvPr/>
        </p:nvSpPr>
        <p:spPr>
          <a:xfrm>
            <a:off x="3422465" y="3486871"/>
            <a:ext cx="3187430" cy="1616075"/>
          </a:xfrm>
          <a:prstGeom prst="rect">
            <a:avLst/>
          </a:prstGeom>
        </p:spPr>
        <p:txBody>
          <a:bodyPr lIns="0" tIns="0" rIns="0" bIns="0" rtlCol="0" anchor="t">
            <a:spAutoFit/>
          </a:bodyPr>
          <a:lstStyle/>
          <a:p>
            <a:pPr algn="l">
              <a:lnSpc>
                <a:spcPts val="1299"/>
              </a:lnSpc>
            </a:pPr>
            <a:r>
              <a:rPr lang="en-US" sz="999">
                <a:solidFill>
                  <a:srgbClr val="1C2120"/>
                </a:solidFill>
                <a:latin typeface="Lora"/>
                <a:ea typeface="Lora"/>
                <a:cs typeface="Lora"/>
                <a:sym typeface="Lora"/>
              </a:rPr>
              <a:t>Nvidia's market exhibits high volatility, likely driven by its groundbreaking innovations and globally impactful chip technology. The company's advancements, particularly in supercomputers, have attracted investors from around the world.</a:t>
            </a:r>
          </a:p>
          <a:p>
            <a:pPr algn="l">
              <a:lnSpc>
                <a:spcPts val="1299"/>
              </a:lnSpc>
            </a:pPr>
            <a:r>
              <a:rPr lang="en-US" sz="999">
                <a:solidFill>
                  <a:srgbClr val="1C2120"/>
                </a:solidFill>
                <a:latin typeface="Lora"/>
                <a:ea typeface="Lora"/>
                <a:cs typeface="Lora"/>
                <a:sym typeface="Lora"/>
              </a:rPr>
              <a:t>Apple has also remained a dominant force in trading, consistently leading in bull market value. The market experiences frequent spikes, a trend that has persisted since its inception</a:t>
            </a:r>
          </a:p>
          <a:p>
            <a:pPr algn="l">
              <a:lnSpc>
                <a:spcPts val="1299"/>
              </a:lnSpc>
              <a:spcBef>
                <a:spcPct val="0"/>
              </a:spcBef>
            </a:pPr>
            <a:endParaRPr lang="en-US" sz="999">
              <a:solidFill>
                <a:srgbClr val="1C2120"/>
              </a:solidFill>
              <a:latin typeface="Lora"/>
              <a:ea typeface="Lora"/>
              <a:cs typeface="Lora"/>
              <a:sym typeface="Lora"/>
            </a:endParaRPr>
          </a:p>
        </p:txBody>
      </p:sp>
      <p:sp>
        <p:nvSpPr>
          <p:cNvPr id="30" name="TextBox 30"/>
          <p:cNvSpPr txBox="1"/>
          <p:nvPr/>
        </p:nvSpPr>
        <p:spPr>
          <a:xfrm>
            <a:off x="477479" y="3510046"/>
            <a:ext cx="2492391" cy="968375"/>
          </a:xfrm>
          <a:prstGeom prst="rect">
            <a:avLst/>
          </a:prstGeom>
        </p:spPr>
        <p:txBody>
          <a:bodyPr lIns="0" tIns="0" rIns="0" bIns="0" rtlCol="0" anchor="t">
            <a:spAutoFit/>
          </a:bodyPr>
          <a:lstStyle/>
          <a:p>
            <a:pPr algn="l">
              <a:lnSpc>
                <a:spcPts val="1299"/>
              </a:lnSpc>
            </a:pPr>
            <a:r>
              <a:rPr lang="en-US" sz="999">
                <a:solidFill>
                  <a:srgbClr val="1C2120"/>
                </a:solidFill>
                <a:latin typeface="Lora"/>
                <a:ea typeface="Lora"/>
                <a:cs typeface="Lora"/>
                <a:sym typeface="Lora"/>
              </a:rPr>
              <a:t>The findings show that UnitedHealth has the highest dividend payout, followed by Microsoft. </a:t>
            </a:r>
          </a:p>
          <a:p>
            <a:pPr algn="l">
              <a:lnSpc>
                <a:spcPts val="1299"/>
              </a:lnSpc>
              <a:spcBef>
                <a:spcPct val="0"/>
              </a:spcBef>
            </a:pPr>
            <a:r>
              <a:rPr lang="en-US" sz="999">
                <a:solidFill>
                  <a:srgbClr val="1C2120"/>
                </a:solidFill>
                <a:latin typeface="Lora"/>
                <a:ea typeface="Lora"/>
                <a:cs typeface="Lora"/>
                <a:sym typeface="Lora"/>
              </a:rPr>
              <a:t>Additionally, UnitedHealth has led in trade losses since 2017 but retained second place in 2025, following Meta</a:t>
            </a:r>
          </a:p>
        </p:txBody>
      </p:sp>
      <p:sp>
        <p:nvSpPr>
          <p:cNvPr id="31" name="TextBox 31"/>
          <p:cNvSpPr txBox="1"/>
          <p:nvPr/>
        </p:nvSpPr>
        <p:spPr>
          <a:xfrm>
            <a:off x="1380025" y="679985"/>
            <a:ext cx="2042440" cy="258442"/>
          </a:xfrm>
          <a:prstGeom prst="rect">
            <a:avLst/>
          </a:prstGeom>
        </p:spPr>
        <p:txBody>
          <a:bodyPr lIns="0" tIns="0" rIns="0" bIns="0" rtlCol="0" anchor="t">
            <a:spAutoFit/>
          </a:bodyPr>
          <a:lstStyle/>
          <a:p>
            <a:pPr marL="0" lvl="0" indent="0" algn="l">
              <a:lnSpc>
                <a:spcPts val="2030"/>
              </a:lnSpc>
              <a:spcBef>
                <a:spcPct val="0"/>
              </a:spcBef>
            </a:pPr>
            <a:r>
              <a:rPr lang="en-US" sz="1450" b="1" u="none" strike="noStrike">
                <a:solidFill>
                  <a:srgbClr val="1C2120"/>
                </a:solidFill>
                <a:latin typeface="Lora Bold"/>
                <a:ea typeface="Lora Bold"/>
                <a:cs typeface="Lora Bold"/>
                <a:sym typeface="Lora Bold"/>
              </a:rPr>
              <a:t>TRADE PROF</a:t>
            </a:r>
          </a:p>
        </p:txBody>
      </p:sp>
      <p:pic>
        <p:nvPicPr>
          <p:cNvPr id="32" name="Screen Recording 2025-08-27 132154">
            <a:hlinkClick r:id="" action="ppaction://media"/>
            <a:extLst>
              <a:ext uri="{FF2B5EF4-FFF2-40B4-BE49-F238E27FC236}">
                <a16:creationId xmlns:a16="http://schemas.microsoft.com/office/drawing/2014/main" id="{4F286E18-6FF0-B0F7-3082-7600C84EEE86}"/>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196850" y="5035800"/>
            <a:ext cx="7239000" cy="401947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2282" fill="hold"/>
                                        <p:tgtEl>
                                          <p:spTgt spid="3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2"/>
                </p:tgtEl>
              </p:cMediaNode>
            </p:video>
            <p:seq concurrent="1" nextAc="seek">
              <p:cTn id="8" restart="whenNotActive" fill="hold" evtFilter="cancelBubble" nodeType="interactiveSeq">
                <p:stCondLst>
                  <p:cond evt="onClick" delay="0">
                    <p:tgtEl>
                      <p:spTgt spid="3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2"/>
                                        </p:tgtEl>
                                      </p:cBhvr>
                                    </p:cmd>
                                  </p:childTnLst>
                                </p:cTn>
                              </p:par>
                            </p:childTnLst>
                          </p:cTn>
                        </p:par>
                      </p:childTnLst>
                    </p:cTn>
                  </p:par>
                </p:childTnLst>
              </p:cTn>
              <p:nextCondLst>
                <p:cond evt="onClick" delay="0">
                  <p:tgtEl>
                    <p:spTgt spid="32"/>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542316" y="-536767"/>
            <a:ext cx="9841451" cy="2831206"/>
            <a:chOff x="0" y="0"/>
            <a:chExt cx="11622904" cy="3343698"/>
          </a:xfrm>
        </p:grpSpPr>
        <p:sp>
          <p:nvSpPr>
            <p:cNvPr id="3" name="Freeform 3"/>
            <p:cNvSpPr/>
            <p:nvPr/>
          </p:nvSpPr>
          <p:spPr>
            <a:xfrm>
              <a:off x="0" y="0"/>
              <a:ext cx="11622905" cy="3343698"/>
            </a:xfrm>
            <a:custGeom>
              <a:avLst/>
              <a:gdLst/>
              <a:ahLst/>
              <a:cxnLst/>
              <a:rect l="l" t="t" r="r" b="b"/>
              <a:pathLst>
                <a:path w="11622905" h="3343698">
                  <a:moveTo>
                    <a:pt x="203200" y="0"/>
                  </a:moveTo>
                  <a:lnTo>
                    <a:pt x="11622905" y="0"/>
                  </a:lnTo>
                  <a:lnTo>
                    <a:pt x="11419705" y="3343698"/>
                  </a:lnTo>
                  <a:lnTo>
                    <a:pt x="0" y="3343698"/>
                  </a:lnTo>
                  <a:lnTo>
                    <a:pt x="203200" y="0"/>
                  </a:lnTo>
                  <a:close/>
                </a:path>
              </a:pathLst>
            </a:custGeom>
            <a:gradFill rotWithShape="1">
              <a:gsLst>
                <a:gs pos="0">
                  <a:srgbClr val="FF5959">
                    <a:alpha val="100000"/>
                  </a:srgbClr>
                </a:gs>
                <a:gs pos="100000">
                  <a:srgbClr val="220000">
                    <a:alpha val="100000"/>
                  </a:srgbClr>
                </a:gs>
              </a:gsLst>
              <a:lin ang="0"/>
            </a:gradFill>
          </p:spPr>
          <p:txBody>
            <a:bodyPr/>
            <a:lstStyle/>
            <a:p>
              <a:endParaRPr lang="en-US"/>
            </a:p>
          </p:txBody>
        </p:sp>
        <p:sp>
          <p:nvSpPr>
            <p:cNvPr id="4" name="TextBox 4"/>
            <p:cNvSpPr txBox="1"/>
            <p:nvPr/>
          </p:nvSpPr>
          <p:spPr>
            <a:xfrm>
              <a:off x="101600" y="0"/>
              <a:ext cx="11419704" cy="3343698"/>
            </a:xfrm>
            <a:prstGeom prst="rect">
              <a:avLst/>
            </a:prstGeom>
          </p:spPr>
          <p:txBody>
            <a:bodyPr lIns="6244" tIns="6244" rIns="6244" bIns="6244" rtlCol="0" anchor="ctr"/>
            <a:lstStyle/>
            <a:p>
              <a:pPr algn="ctr">
                <a:lnSpc>
                  <a:spcPts val="184"/>
                </a:lnSpc>
              </a:pPr>
              <a:endParaRPr/>
            </a:p>
          </p:txBody>
        </p:sp>
      </p:grpSp>
      <p:grpSp>
        <p:nvGrpSpPr>
          <p:cNvPr id="5" name="Group 5"/>
          <p:cNvGrpSpPr/>
          <p:nvPr/>
        </p:nvGrpSpPr>
        <p:grpSpPr>
          <a:xfrm rot="-10800000">
            <a:off x="-932832" y="9781520"/>
            <a:ext cx="7736832" cy="1402116"/>
            <a:chOff x="0" y="0"/>
            <a:chExt cx="3363754" cy="609600"/>
          </a:xfrm>
        </p:grpSpPr>
        <p:sp>
          <p:nvSpPr>
            <p:cNvPr id="6" name="Freeform 6"/>
            <p:cNvSpPr/>
            <p:nvPr/>
          </p:nvSpPr>
          <p:spPr>
            <a:xfrm>
              <a:off x="0" y="0"/>
              <a:ext cx="3363754" cy="609600"/>
            </a:xfrm>
            <a:custGeom>
              <a:avLst/>
              <a:gdLst/>
              <a:ahLst/>
              <a:cxnLst/>
              <a:rect l="l" t="t" r="r" b="b"/>
              <a:pathLst>
                <a:path w="3363754" h="609600">
                  <a:moveTo>
                    <a:pt x="203200" y="0"/>
                  </a:moveTo>
                  <a:lnTo>
                    <a:pt x="3363754" y="0"/>
                  </a:lnTo>
                  <a:lnTo>
                    <a:pt x="3160554" y="609600"/>
                  </a:lnTo>
                  <a:lnTo>
                    <a:pt x="0" y="609600"/>
                  </a:lnTo>
                  <a:lnTo>
                    <a:pt x="203200" y="0"/>
                  </a:lnTo>
                  <a:close/>
                </a:path>
              </a:pathLst>
            </a:custGeom>
            <a:gradFill rotWithShape="1">
              <a:gsLst>
                <a:gs pos="0">
                  <a:srgbClr val="FF5959">
                    <a:alpha val="100000"/>
                  </a:srgbClr>
                </a:gs>
                <a:gs pos="100000">
                  <a:srgbClr val="220000">
                    <a:alpha val="100000"/>
                  </a:srgbClr>
                </a:gs>
              </a:gsLst>
              <a:lin ang="0"/>
            </a:gradFill>
            <a:ln cap="sq">
              <a:noFill/>
              <a:prstDash val="solid"/>
              <a:miter/>
            </a:ln>
          </p:spPr>
          <p:txBody>
            <a:bodyPr/>
            <a:lstStyle/>
            <a:p>
              <a:endParaRPr lang="en-US"/>
            </a:p>
          </p:txBody>
        </p:sp>
        <p:sp>
          <p:nvSpPr>
            <p:cNvPr id="7" name="TextBox 7"/>
            <p:cNvSpPr txBox="1"/>
            <p:nvPr/>
          </p:nvSpPr>
          <p:spPr>
            <a:xfrm>
              <a:off x="101600" y="0"/>
              <a:ext cx="3160554" cy="609600"/>
            </a:xfrm>
            <a:prstGeom prst="rect">
              <a:avLst/>
            </a:prstGeom>
          </p:spPr>
          <p:txBody>
            <a:bodyPr lIns="6244" tIns="6244" rIns="6244" bIns="6244" rtlCol="0" anchor="ctr"/>
            <a:lstStyle/>
            <a:p>
              <a:pPr marL="0" lvl="0" indent="0" algn="ctr">
                <a:lnSpc>
                  <a:spcPts val="184"/>
                </a:lnSpc>
                <a:spcBef>
                  <a:spcPct val="0"/>
                </a:spcBef>
              </a:pPr>
              <a:endParaRPr/>
            </a:p>
          </p:txBody>
        </p:sp>
      </p:grpSp>
      <p:grpSp>
        <p:nvGrpSpPr>
          <p:cNvPr id="8" name="Group 8"/>
          <p:cNvGrpSpPr/>
          <p:nvPr/>
        </p:nvGrpSpPr>
        <p:grpSpPr>
          <a:xfrm rot="-10800000">
            <a:off x="5739545" y="9936000"/>
            <a:ext cx="2609006" cy="472820"/>
            <a:chOff x="0" y="0"/>
            <a:chExt cx="3363754" cy="609600"/>
          </a:xfrm>
        </p:grpSpPr>
        <p:sp>
          <p:nvSpPr>
            <p:cNvPr id="9" name="Freeform 9"/>
            <p:cNvSpPr/>
            <p:nvPr/>
          </p:nvSpPr>
          <p:spPr>
            <a:xfrm>
              <a:off x="0" y="0"/>
              <a:ext cx="3363754" cy="609600"/>
            </a:xfrm>
            <a:custGeom>
              <a:avLst/>
              <a:gdLst/>
              <a:ahLst/>
              <a:cxnLst/>
              <a:rect l="l" t="t" r="r" b="b"/>
              <a:pathLst>
                <a:path w="3363754" h="609600">
                  <a:moveTo>
                    <a:pt x="203200" y="0"/>
                  </a:moveTo>
                  <a:lnTo>
                    <a:pt x="3363754" y="0"/>
                  </a:lnTo>
                  <a:lnTo>
                    <a:pt x="3160554" y="609600"/>
                  </a:lnTo>
                  <a:lnTo>
                    <a:pt x="0" y="609600"/>
                  </a:lnTo>
                  <a:lnTo>
                    <a:pt x="203200" y="0"/>
                  </a:lnTo>
                  <a:close/>
                </a:path>
              </a:pathLst>
            </a:custGeom>
            <a:gradFill rotWithShape="1">
              <a:gsLst>
                <a:gs pos="0">
                  <a:srgbClr val="FF5959">
                    <a:alpha val="100000"/>
                  </a:srgbClr>
                </a:gs>
                <a:gs pos="100000">
                  <a:srgbClr val="220000">
                    <a:alpha val="100000"/>
                  </a:srgbClr>
                </a:gs>
              </a:gsLst>
              <a:lin ang="0"/>
            </a:gradFill>
            <a:ln cap="sq">
              <a:noFill/>
              <a:prstDash val="solid"/>
              <a:miter/>
            </a:ln>
          </p:spPr>
          <p:txBody>
            <a:bodyPr/>
            <a:lstStyle/>
            <a:p>
              <a:endParaRPr lang="en-US"/>
            </a:p>
          </p:txBody>
        </p:sp>
        <p:sp>
          <p:nvSpPr>
            <p:cNvPr id="10" name="TextBox 10"/>
            <p:cNvSpPr txBox="1"/>
            <p:nvPr/>
          </p:nvSpPr>
          <p:spPr>
            <a:xfrm>
              <a:off x="101600" y="0"/>
              <a:ext cx="3160554" cy="609600"/>
            </a:xfrm>
            <a:prstGeom prst="rect">
              <a:avLst/>
            </a:prstGeom>
          </p:spPr>
          <p:txBody>
            <a:bodyPr lIns="6244" tIns="6244" rIns="6244" bIns="6244" rtlCol="0" anchor="ctr"/>
            <a:lstStyle/>
            <a:p>
              <a:pPr marL="0" lvl="0" indent="0" algn="ctr">
                <a:lnSpc>
                  <a:spcPts val="184"/>
                </a:lnSpc>
                <a:spcBef>
                  <a:spcPct val="0"/>
                </a:spcBef>
              </a:pPr>
              <a:endParaRPr/>
            </a:p>
          </p:txBody>
        </p:sp>
      </p:grpSp>
      <p:grpSp>
        <p:nvGrpSpPr>
          <p:cNvPr id="11" name="Group 11"/>
          <p:cNvGrpSpPr/>
          <p:nvPr/>
        </p:nvGrpSpPr>
        <p:grpSpPr>
          <a:xfrm rot="-10800000">
            <a:off x="-1304503" y="10172410"/>
            <a:ext cx="4171585" cy="756000"/>
            <a:chOff x="0" y="0"/>
            <a:chExt cx="3363754" cy="609600"/>
          </a:xfrm>
        </p:grpSpPr>
        <p:sp>
          <p:nvSpPr>
            <p:cNvPr id="12" name="Freeform 12"/>
            <p:cNvSpPr/>
            <p:nvPr/>
          </p:nvSpPr>
          <p:spPr>
            <a:xfrm>
              <a:off x="0" y="0"/>
              <a:ext cx="3363754" cy="609600"/>
            </a:xfrm>
            <a:custGeom>
              <a:avLst/>
              <a:gdLst/>
              <a:ahLst/>
              <a:cxnLst/>
              <a:rect l="l" t="t" r="r" b="b"/>
              <a:pathLst>
                <a:path w="3363754" h="609600">
                  <a:moveTo>
                    <a:pt x="203200" y="0"/>
                  </a:moveTo>
                  <a:lnTo>
                    <a:pt x="3363754" y="0"/>
                  </a:lnTo>
                  <a:lnTo>
                    <a:pt x="3160554" y="609600"/>
                  </a:lnTo>
                  <a:lnTo>
                    <a:pt x="0" y="609600"/>
                  </a:lnTo>
                  <a:lnTo>
                    <a:pt x="203200" y="0"/>
                  </a:lnTo>
                  <a:close/>
                </a:path>
              </a:pathLst>
            </a:custGeom>
            <a:gradFill rotWithShape="1">
              <a:gsLst>
                <a:gs pos="0">
                  <a:srgbClr val="FF5959">
                    <a:alpha val="100000"/>
                  </a:srgbClr>
                </a:gs>
                <a:gs pos="100000">
                  <a:srgbClr val="220000">
                    <a:alpha val="100000"/>
                  </a:srgbClr>
                </a:gs>
              </a:gsLst>
              <a:lin ang="0"/>
            </a:gradFill>
            <a:ln cap="sq">
              <a:noFill/>
              <a:prstDash val="solid"/>
              <a:miter/>
            </a:ln>
          </p:spPr>
          <p:txBody>
            <a:bodyPr/>
            <a:lstStyle/>
            <a:p>
              <a:endParaRPr lang="en-US"/>
            </a:p>
          </p:txBody>
        </p:sp>
        <p:sp>
          <p:nvSpPr>
            <p:cNvPr id="13" name="TextBox 13"/>
            <p:cNvSpPr txBox="1"/>
            <p:nvPr/>
          </p:nvSpPr>
          <p:spPr>
            <a:xfrm>
              <a:off x="101600" y="0"/>
              <a:ext cx="3160554" cy="609600"/>
            </a:xfrm>
            <a:prstGeom prst="rect">
              <a:avLst/>
            </a:prstGeom>
          </p:spPr>
          <p:txBody>
            <a:bodyPr lIns="6244" tIns="6244" rIns="6244" bIns="6244" rtlCol="0" anchor="ctr"/>
            <a:lstStyle/>
            <a:p>
              <a:pPr marL="0" lvl="0" indent="0" algn="ctr">
                <a:lnSpc>
                  <a:spcPts val="184"/>
                </a:lnSpc>
                <a:spcBef>
                  <a:spcPct val="0"/>
                </a:spcBef>
              </a:pPr>
              <a:endParaRPr/>
            </a:p>
          </p:txBody>
        </p:sp>
      </p:grpSp>
      <p:sp>
        <p:nvSpPr>
          <p:cNvPr id="14" name="Freeform 14"/>
          <p:cNvSpPr/>
          <p:nvPr/>
        </p:nvSpPr>
        <p:spPr>
          <a:xfrm rot="-10800000">
            <a:off x="756000" y="704033"/>
            <a:ext cx="339399" cy="218679"/>
          </a:xfrm>
          <a:custGeom>
            <a:avLst/>
            <a:gdLst/>
            <a:ahLst/>
            <a:cxnLst/>
            <a:rect l="l" t="t" r="r" b="b"/>
            <a:pathLst>
              <a:path w="339399" h="218679">
                <a:moveTo>
                  <a:pt x="0" y="0"/>
                </a:moveTo>
                <a:lnTo>
                  <a:pt x="339399" y="0"/>
                </a:lnTo>
                <a:lnTo>
                  <a:pt x="339399" y="218679"/>
                </a:lnTo>
                <a:lnTo>
                  <a:pt x="0" y="218679"/>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5" name="Freeform 15"/>
          <p:cNvSpPr/>
          <p:nvPr/>
        </p:nvSpPr>
        <p:spPr>
          <a:xfrm>
            <a:off x="478925" y="1815630"/>
            <a:ext cx="4776315" cy="3887058"/>
          </a:xfrm>
          <a:custGeom>
            <a:avLst/>
            <a:gdLst/>
            <a:ahLst/>
            <a:cxnLst/>
            <a:rect l="l" t="t" r="r" b="b"/>
            <a:pathLst>
              <a:path w="4776315" h="3887058">
                <a:moveTo>
                  <a:pt x="0" y="0"/>
                </a:moveTo>
                <a:lnTo>
                  <a:pt x="4776314" y="0"/>
                </a:lnTo>
                <a:lnTo>
                  <a:pt x="4776314" y="3887059"/>
                </a:lnTo>
                <a:lnTo>
                  <a:pt x="0" y="3887059"/>
                </a:lnTo>
                <a:lnTo>
                  <a:pt x="0" y="0"/>
                </a:lnTo>
                <a:close/>
              </a:path>
            </a:pathLst>
          </a:custGeom>
          <a:blipFill>
            <a:blip r:embed="rId4"/>
            <a:stretch>
              <a:fillRect/>
            </a:stretch>
          </a:blipFill>
        </p:spPr>
        <p:txBody>
          <a:bodyPr/>
          <a:lstStyle/>
          <a:p>
            <a:endParaRPr lang="en-US"/>
          </a:p>
        </p:txBody>
      </p:sp>
      <p:sp>
        <p:nvSpPr>
          <p:cNvPr id="16" name="TextBox 16"/>
          <p:cNvSpPr txBox="1"/>
          <p:nvPr/>
        </p:nvSpPr>
        <p:spPr>
          <a:xfrm>
            <a:off x="668657" y="6407539"/>
            <a:ext cx="5020117" cy="787743"/>
          </a:xfrm>
          <a:prstGeom prst="rect">
            <a:avLst/>
          </a:prstGeom>
        </p:spPr>
        <p:txBody>
          <a:bodyPr lIns="0" tIns="0" rIns="0" bIns="0" rtlCol="0" anchor="t">
            <a:spAutoFit/>
          </a:bodyPr>
          <a:lstStyle/>
          <a:p>
            <a:pPr marL="0" lvl="0" indent="0" algn="l">
              <a:lnSpc>
                <a:spcPts val="5900"/>
              </a:lnSpc>
              <a:spcBef>
                <a:spcPct val="0"/>
              </a:spcBef>
            </a:pPr>
            <a:r>
              <a:rPr lang="en-US" sz="6210" b="1" spc="-6">
                <a:solidFill>
                  <a:srgbClr val="1C2120"/>
                </a:solidFill>
                <a:latin typeface="Lora Bold"/>
                <a:ea typeface="Lora Bold"/>
                <a:cs typeface="Lora Bold"/>
                <a:sym typeface="Lora Bold"/>
              </a:rPr>
              <a:t>Conclusion</a:t>
            </a:r>
          </a:p>
        </p:txBody>
      </p:sp>
      <p:sp>
        <p:nvSpPr>
          <p:cNvPr id="17" name="TextBox 17"/>
          <p:cNvSpPr txBox="1"/>
          <p:nvPr/>
        </p:nvSpPr>
        <p:spPr>
          <a:xfrm>
            <a:off x="3946816" y="7528683"/>
            <a:ext cx="2857184" cy="2042160"/>
          </a:xfrm>
          <a:prstGeom prst="rect">
            <a:avLst/>
          </a:prstGeom>
        </p:spPr>
        <p:txBody>
          <a:bodyPr lIns="0" tIns="0" rIns="0" bIns="0" rtlCol="0" anchor="t">
            <a:spAutoFit/>
          </a:bodyPr>
          <a:lstStyle/>
          <a:p>
            <a:pPr marL="194310" lvl="1" indent="-97155" algn="l">
              <a:lnSpc>
                <a:spcPts val="1350"/>
              </a:lnSpc>
              <a:buFont typeface="Arial"/>
              <a:buChar char="•"/>
            </a:pPr>
            <a:r>
              <a:rPr lang="en-US" sz="900">
                <a:solidFill>
                  <a:srgbClr val="272727"/>
                </a:solidFill>
                <a:latin typeface="Lora"/>
                <a:ea typeface="Lora"/>
                <a:cs typeface="Lora"/>
                <a:sym typeface="Lora"/>
              </a:rPr>
              <a:t>This data has been trained, tested, and is ready for deployment to ensure optimal trading accuracy, continuous AI learning, and efficient market predictions.</a:t>
            </a:r>
          </a:p>
          <a:p>
            <a:pPr marL="194310" lvl="1" indent="-97155" algn="l">
              <a:lnSpc>
                <a:spcPts val="1350"/>
              </a:lnSpc>
              <a:buFont typeface="Arial"/>
              <a:buChar char="•"/>
            </a:pPr>
            <a:r>
              <a:rPr lang="en-US" sz="900">
                <a:solidFill>
                  <a:srgbClr val="272727"/>
                </a:solidFill>
                <a:latin typeface="Lora"/>
                <a:ea typeface="Lora"/>
                <a:cs typeface="Lora"/>
                <a:sym typeface="Lora"/>
              </a:rPr>
              <a:t>The model was developed using Deep Reinforcement Learning, which has demonstrated superior forecasting capabilities compared to other AI approaches. Proximal Policy Optimization (PPO) served as the primary training method, enhancing the model’s adaptability and decision-making in dynamic market conditions</a:t>
            </a:r>
          </a:p>
          <a:p>
            <a:pPr algn="l">
              <a:lnSpc>
                <a:spcPts val="1350"/>
              </a:lnSpc>
            </a:pPr>
            <a:endParaRPr lang="en-US" sz="900">
              <a:solidFill>
                <a:srgbClr val="272727"/>
              </a:solidFill>
              <a:latin typeface="Lora"/>
              <a:ea typeface="Lora"/>
              <a:cs typeface="Lora"/>
              <a:sym typeface="Lora"/>
            </a:endParaRPr>
          </a:p>
        </p:txBody>
      </p:sp>
      <p:sp>
        <p:nvSpPr>
          <p:cNvPr id="18" name="TextBox 18"/>
          <p:cNvSpPr txBox="1"/>
          <p:nvPr/>
        </p:nvSpPr>
        <p:spPr>
          <a:xfrm>
            <a:off x="668657" y="7528683"/>
            <a:ext cx="3024000" cy="2213610"/>
          </a:xfrm>
          <a:prstGeom prst="rect">
            <a:avLst/>
          </a:prstGeom>
        </p:spPr>
        <p:txBody>
          <a:bodyPr lIns="0" tIns="0" rIns="0" bIns="0" rtlCol="0" anchor="t">
            <a:spAutoFit/>
          </a:bodyPr>
          <a:lstStyle/>
          <a:p>
            <a:pPr marL="194310" lvl="1" indent="-97155" algn="l">
              <a:lnSpc>
                <a:spcPts val="1350"/>
              </a:lnSpc>
              <a:buFont typeface="Arial"/>
              <a:buChar char="•"/>
            </a:pPr>
            <a:r>
              <a:rPr lang="en-US" sz="900">
                <a:solidFill>
                  <a:srgbClr val="272727"/>
                </a:solidFill>
                <a:latin typeface="Lora"/>
                <a:ea typeface="Lora"/>
                <a:cs typeface="Lora"/>
                <a:sym typeface="Lora"/>
              </a:rPr>
              <a:t>These market values are essential considerations when making trade decisions, as the data comes from reliable sources and is drawn from the inception of each company.</a:t>
            </a:r>
          </a:p>
          <a:p>
            <a:pPr algn="l">
              <a:lnSpc>
                <a:spcPts val="1350"/>
              </a:lnSpc>
            </a:pPr>
            <a:endParaRPr lang="en-US" sz="900">
              <a:solidFill>
                <a:srgbClr val="272727"/>
              </a:solidFill>
              <a:latin typeface="Lora"/>
              <a:ea typeface="Lora"/>
              <a:cs typeface="Lora"/>
              <a:sym typeface="Lora"/>
            </a:endParaRPr>
          </a:p>
          <a:p>
            <a:pPr marL="194310" lvl="1" indent="-97155" algn="l">
              <a:lnSpc>
                <a:spcPts val="1350"/>
              </a:lnSpc>
              <a:buFont typeface="Arial"/>
              <a:buChar char="•"/>
            </a:pPr>
            <a:r>
              <a:rPr lang="en-US" sz="900">
                <a:solidFill>
                  <a:srgbClr val="272727"/>
                </a:solidFill>
                <a:latin typeface="Lora"/>
                <a:ea typeface="Lora"/>
                <a:cs typeface="Lora"/>
                <a:sym typeface="Lora"/>
              </a:rPr>
              <a:t>Regarding decision-making, Trade Prof has equipped AI engineers, data scientists, and engineers with the tools to develop an agentic AI model for algorithmic trading. This AI-driven approach enables automated trading based on historical patterns and market trends, enhancing efficiency and precision in financial decision-making.</a:t>
            </a:r>
          </a:p>
          <a:p>
            <a:pPr algn="l">
              <a:lnSpc>
                <a:spcPts val="1350"/>
              </a:lnSpc>
            </a:pPr>
            <a:endParaRPr lang="en-US" sz="900">
              <a:solidFill>
                <a:srgbClr val="272727"/>
              </a:solidFill>
              <a:latin typeface="Lora"/>
              <a:ea typeface="Lora"/>
              <a:cs typeface="Lora"/>
              <a:sym typeface="Lora"/>
            </a:endParaRPr>
          </a:p>
        </p:txBody>
      </p:sp>
      <p:sp>
        <p:nvSpPr>
          <p:cNvPr id="19" name="TextBox 19"/>
          <p:cNvSpPr txBox="1"/>
          <p:nvPr/>
        </p:nvSpPr>
        <p:spPr>
          <a:xfrm>
            <a:off x="1380025" y="679985"/>
            <a:ext cx="2042440" cy="258442"/>
          </a:xfrm>
          <a:prstGeom prst="rect">
            <a:avLst/>
          </a:prstGeom>
        </p:spPr>
        <p:txBody>
          <a:bodyPr lIns="0" tIns="0" rIns="0" bIns="0" rtlCol="0" anchor="t">
            <a:spAutoFit/>
          </a:bodyPr>
          <a:lstStyle/>
          <a:p>
            <a:pPr marL="0" lvl="0" indent="0" algn="l">
              <a:lnSpc>
                <a:spcPts val="2030"/>
              </a:lnSpc>
              <a:spcBef>
                <a:spcPct val="0"/>
              </a:spcBef>
            </a:pPr>
            <a:r>
              <a:rPr lang="en-US" sz="1450" b="1">
                <a:solidFill>
                  <a:srgbClr val="1C2120"/>
                </a:solidFill>
                <a:latin typeface="Lora Bold"/>
                <a:ea typeface="Lora Bold"/>
                <a:cs typeface="Lora Bold"/>
                <a:sym typeface="Lora Bold"/>
              </a:rPr>
              <a:t>TRADE PROF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TotalTime>
  <Words>469</Words>
  <Application>Microsoft Office PowerPoint</Application>
  <PresentationFormat>Custom</PresentationFormat>
  <Paragraphs>25</Paragraphs>
  <Slides>4</Slides>
  <Notes>0</Notes>
  <HiddenSlides>0</HiddenSlides>
  <MMClips>1</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Telegraf Heavy</vt:lpstr>
      <vt:lpstr>Garet</vt:lpstr>
      <vt:lpstr>Calibri</vt:lpstr>
      <vt:lpstr>Garet Bold</vt:lpstr>
      <vt:lpstr>Arial</vt:lpstr>
      <vt:lpstr>Lora</vt:lpstr>
      <vt:lpstr>Lora Bold</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 Modern Project Proposal</dc:title>
  <dc:creator>Allwell Godwin</dc:creator>
  <cp:lastModifiedBy>Allwell Chinemenma Godwin</cp:lastModifiedBy>
  <cp:revision>3</cp:revision>
  <dcterms:created xsi:type="dcterms:W3CDTF">2006-08-16T00:00:00Z</dcterms:created>
  <dcterms:modified xsi:type="dcterms:W3CDTF">2025-08-27T12:27:44Z</dcterms:modified>
  <dc:identifier>DAGhQwrXZJg</dc:identifier>
</cp:coreProperties>
</file>